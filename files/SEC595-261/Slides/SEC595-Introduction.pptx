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4715" r:id="rId3"/>
  </p:sldMasterIdLst>
  <p:notesMasterIdLst>
    <p:notesMasterId r:id="rId37"/>
  </p:notesMasterIdLst>
  <p:handoutMasterIdLst>
    <p:handoutMasterId r:id="rId38"/>
  </p:handoutMasterIdLst>
  <p:sldIdLst>
    <p:sldId id="256" r:id="rId4"/>
    <p:sldId id="258" r:id="rId5"/>
    <p:sldId id="423" r:id="rId6"/>
    <p:sldId id="257" r:id="rId7"/>
    <p:sldId id="368" r:id="rId8"/>
    <p:sldId id="369" r:id="rId9"/>
    <p:sldId id="366" r:id="rId10"/>
    <p:sldId id="1211" r:id="rId11"/>
    <p:sldId id="371" r:id="rId12"/>
    <p:sldId id="1209" r:id="rId13"/>
    <p:sldId id="370" r:id="rId14"/>
    <p:sldId id="266" r:id="rId15"/>
    <p:sldId id="1212" r:id="rId16"/>
    <p:sldId id="1213" r:id="rId17"/>
    <p:sldId id="271" r:id="rId18"/>
    <p:sldId id="272" r:id="rId19"/>
    <p:sldId id="1210" r:id="rId20"/>
    <p:sldId id="1215" r:id="rId21"/>
    <p:sldId id="1216" r:id="rId22"/>
    <p:sldId id="1226" r:id="rId23"/>
    <p:sldId id="1218" r:id="rId24"/>
    <p:sldId id="1219" r:id="rId25"/>
    <p:sldId id="1220" r:id="rId26"/>
    <p:sldId id="301" r:id="rId27"/>
    <p:sldId id="1223" r:id="rId28"/>
    <p:sldId id="1224" r:id="rId29"/>
    <p:sldId id="1225" r:id="rId30"/>
    <p:sldId id="1227" r:id="rId31"/>
    <p:sldId id="264" r:id="rId32"/>
    <p:sldId id="394" r:id="rId33"/>
    <p:sldId id="391" r:id="rId34"/>
    <p:sldId id="422" r:id="rId35"/>
    <p:sldId id="393" r:id="rId36"/>
  </p:sldIdLst>
  <p:sldSz cx="9144000" cy="6858000" type="screen4x3"/>
  <p:notesSz cx="6831013" cy="91170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2">
          <p15:clr>
            <a:srgbClr val="A4A3A4"/>
          </p15:clr>
        </p15:guide>
        <p15:guide id="2" pos="215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C45"/>
    <a:srgbClr val="EE3F37"/>
    <a:srgbClr val="98BF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7031" autoAdjust="0"/>
    <p:restoredTop sz="96781" autoAdjust="0"/>
  </p:normalViewPr>
  <p:slideViewPr>
    <p:cSldViewPr>
      <p:cViewPr varScale="1">
        <p:scale>
          <a:sx n="128" d="100"/>
          <a:sy n="128" d="100"/>
        </p:scale>
        <p:origin x="117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144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4456"/>
    </p:cViewPr>
  </p:sorterViewPr>
  <p:notesViewPr>
    <p:cSldViewPr>
      <p:cViewPr varScale="1">
        <p:scale>
          <a:sx n="94" d="100"/>
          <a:sy n="94" d="100"/>
        </p:scale>
        <p:origin x="2552" y="192"/>
      </p:cViewPr>
      <p:guideLst>
        <p:guide orient="horz" pos="2872"/>
        <p:guide pos="21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A3879B97-3B1B-6B45-B71E-8431507D6E8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algn="l" defTabSz="911225" rtl="0"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9E95BEAA-9628-6747-A422-0BB24542C95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algn="r" defTabSz="911225" rtl="0"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8" name="Rectangle 4">
            <a:extLst>
              <a:ext uri="{FF2B5EF4-FFF2-40B4-BE49-F238E27FC236}">
                <a16:creationId xmlns:a16="http://schemas.microsoft.com/office/drawing/2014/main" id="{CEDC13AC-D888-5F4A-8BA0-8D2876F7AD9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60688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algn="l" defTabSz="911225" rtl="0" eaLnBrk="0" hangingPunct="0">
              <a:defRPr sz="1200">
                <a:latin typeface="Times New Roman" pitchFamily="18" charset="0"/>
                <a:cs typeface="Arial" charset="0"/>
              </a:defRPr>
            </a:lvl1pPr>
          </a:lstStyle>
          <a:p>
            <a:pPr>
              <a:defRPr/>
            </a:pPr>
            <a:r>
              <a:rPr lang="en-US"/>
              <a:t>dd</a:t>
            </a:r>
          </a:p>
        </p:txBody>
      </p:sp>
      <p:sp>
        <p:nvSpPr>
          <p:cNvPr id="123909" name="Rectangle 5">
            <a:extLst>
              <a:ext uri="{FF2B5EF4-FFF2-40B4-BE49-F238E27FC236}">
                <a16:creationId xmlns:a16="http://schemas.microsoft.com/office/drawing/2014/main" id="{9972D809-BBCD-684C-9F68-BC79C8447C2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661400"/>
            <a:ext cx="2960688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algn="r" defTabSz="911225"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AF50048F-2675-7B4D-9FDF-61187F085CB9}" type="slidenum">
              <a:rPr lang="ar-SA" altLang="en-US"/>
              <a:pPr>
                <a:defRPr/>
              </a:pPr>
              <a:t>‹#›</a:t>
            </a:fld>
            <a:endParaRPr lang="en-US" altLang="en-U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2">
            <a:extLst>
              <a:ext uri="{FF2B5EF4-FFF2-40B4-BE49-F238E27FC236}">
                <a16:creationId xmlns:a16="http://schemas.microsoft.com/office/drawing/2014/main" id="{8226F8ED-98FF-7145-8756-D974B0E036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63663" y="1139825"/>
            <a:ext cx="4103687" cy="3076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14CF5D13-1554-1A4B-8D8C-51643E330E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0688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38222-A3CC-7F4D-AD9A-71E0CA5E13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59813"/>
            <a:ext cx="2960688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dd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CBED0-8F0A-3A47-9AFD-C8AB3497E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68738" y="8659813"/>
            <a:ext cx="2960687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A05C76C-53D5-1E48-9F5A-8A4BEACC2B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7CC20B7-7AB1-754F-B840-B57CF8F835D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68738" y="0"/>
            <a:ext cx="2960687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8A57002-C9DB-184D-9118-9A1666946907}" type="datetimeFigureOut">
              <a:rPr lang="en-US"/>
              <a:pPr>
                <a:defRPr/>
              </a:pPr>
              <a:t>8/25/26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3EE5EC7F-B8E4-AF40-8446-568BFBFB5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2625" y="4387850"/>
            <a:ext cx="5465763" cy="3589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04758F8-A477-47D1-B9C1-C55538AE32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66D103-9C82-4BF7-B5A5-C32838559376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AE3A3648-9D97-42AB-985A-42DC19E922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34A26712-8CBB-4A6B-AA51-980B1E7A9C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SFE:   Great result from theory of crypto that allows 2 parties to jointly compute some function, without either learning anything other than the result.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39B27-7D52-5040-B0E6-48DA302F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4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474D7-ACDB-0D41-A328-EAB9964A0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78945" y="6369055"/>
            <a:ext cx="4446984" cy="36576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SEC595: Encrypted Computing | Dr. Muhamad Felemban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C6EC-E1A7-0644-9EDB-C6B4560FF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E0F716-BD43-6D48-944A-CF671AE036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2845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09620"/>
            <a:ext cx="8458200" cy="48006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1FC060D-CAA0-0E40-8B83-BEA542350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90107" y="6352837"/>
            <a:ext cx="4039986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/>
              <a:t>SEC595: Encrypted Computing | Dr. Muhamad Felemban 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90C0802-DAD4-2A43-949E-EC8EA72FE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67700" y="6356354"/>
            <a:ext cx="571500" cy="3651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3E4FE65C-0B6C-2845-80D3-71BAE0608084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Title Placeholder 6">
            <a:extLst>
              <a:ext uri="{FF2B5EF4-FFF2-40B4-BE49-F238E27FC236}">
                <a16:creationId xmlns:a16="http://schemas.microsoft.com/office/drawing/2014/main" id="{115E8944-90C3-8F49-9A0F-019200D5B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7886700" cy="1014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7080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4003"/>
            <a:ext cx="3867150" cy="4652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3"/>
            <a:ext cx="3867150" cy="4652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720398-3056-AC41-93E1-5864F3ECB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D43FCD-BDE2-ED4B-8578-9C329121D1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Title Placeholder 6">
            <a:extLst>
              <a:ext uri="{FF2B5EF4-FFF2-40B4-BE49-F238E27FC236}">
                <a16:creationId xmlns:a16="http://schemas.microsoft.com/office/drawing/2014/main" id="{8F19EE68-DE91-8642-A386-FF8A92645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87311"/>
            <a:ext cx="7886700" cy="1014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9495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371600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286004"/>
            <a:ext cx="3868737" cy="39036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4203" y="137281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286004"/>
            <a:ext cx="3887788" cy="39036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5BA1326-2361-3A4A-8B10-8DD4CB756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3CD45-5917-E346-954D-4B7C32A51E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Title Placeholder 6">
            <a:extLst>
              <a:ext uri="{FF2B5EF4-FFF2-40B4-BE49-F238E27FC236}">
                <a16:creationId xmlns:a16="http://schemas.microsoft.com/office/drawing/2014/main" id="{D1A49966-B171-B240-80F6-418565640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291" y="0"/>
            <a:ext cx="7886700" cy="1014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3185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234B9-AAC7-DE4D-9887-AB5AF08D2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4"/>
            <a:ext cx="30861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/>
              <a:t>SEC595: Encrypted Computing | Dr. Muhamad Felemban </a:t>
            </a:r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4244D58-439E-A749-A95C-46E37224A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A9567A-1A4B-F949-8776-B1076A322AC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ABED803-03E4-AA4C-A452-4571C77809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1002" y="1371600"/>
            <a:ext cx="8374063" cy="47244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tle Placeholder 6">
            <a:extLst>
              <a:ext uri="{FF2B5EF4-FFF2-40B4-BE49-F238E27FC236}">
                <a16:creationId xmlns:a16="http://schemas.microsoft.com/office/drawing/2014/main" id="{9589442E-2B43-7B43-942C-102CFA09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480" y="0"/>
            <a:ext cx="7886700" cy="1014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2294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0A07-92E4-DA4F-8727-ECF64A251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67699" y="6356354"/>
            <a:ext cx="571501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3A9567A-1A4B-F949-8776-B1076A322AC3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31" name="Rectangle 3">
            <a:extLst>
              <a:ext uri="{FF2B5EF4-FFF2-40B4-BE49-F238E27FC236}">
                <a16:creationId xmlns:a16="http://schemas.microsoft.com/office/drawing/2014/main" id="{30B96B3D-2503-694F-A55E-A5B172EEB6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19202"/>
            <a:ext cx="8458200" cy="4913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478D7D5D-28F6-A64F-8E8E-9B3CCD921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-19050"/>
            <a:ext cx="7886700" cy="1014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21752A-796D-CB42-BB44-68F065CEBBD7}"/>
              </a:ext>
            </a:extLst>
          </p:cNvPr>
          <p:cNvCxnSpPr/>
          <p:nvPr userDrawn="1"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328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6CE3252-2735-44C8-BCC3-D8D438FA2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90107" y="6352837"/>
            <a:ext cx="4039986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SEC595: Encrypted Computing | Dr. Muhamad Felemban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036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16" r:id="rId1"/>
    <p:sldLayoutId id="2147484717" r:id="rId2"/>
    <p:sldLayoutId id="2147484718" r:id="rId3"/>
    <p:sldLayoutId id="2147484719" r:id="rId4"/>
    <p:sldLayoutId id="2147484720" r:id="rId5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Calibri Light" panose="020F0302020204030204" pitchFamily="34" charset="0"/>
        </a:defRPr>
      </a:lvl5pPr>
      <a:lvl6pPr marL="257175" algn="l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Calibri Light" panose="020F0302020204030204" pitchFamily="34" charset="0"/>
        </a:defRPr>
      </a:lvl6pPr>
      <a:lvl7pPr marL="514350" algn="l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Calibri Light" panose="020F0302020204030204" pitchFamily="34" charset="0"/>
        </a:defRPr>
      </a:lvl7pPr>
      <a:lvl8pPr marL="771525" algn="l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Calibri Light" panose="020F0302020204030204" pitchFamily="34" charset="0"/>
        </a:defRPr>
      </a:lvl8pPr>
      <a:lvl9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28588" indent="-128588" algn="l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385763" indent="-128588" algn="l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642938" indent="-128588" algn="l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900113" indent="-128588" algn="l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157288" indent="-128588" algn="l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wmf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33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tle 1">
            <a:extLst>
              <a:ext uri="{FF2B5EF4-FFF2-40B4-BE49-F238E27FC236}">
                <a16:creationId xmlns:a16="http://schemas.microsoft.com/office/drawing/2014/main" id="{37C2832D-2187-FA4F-9D2E-FC5B31A546D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>
            <a:normAutofit/>
          </a:bodyPr>
          <a:lstStyle/>
          <a:p>
            <a:r>
              <a:rPr lang="en-US" altLang="en-US" sz="3100" dirty="0"/>
              <a:t>SEC 595: Special Topics in Information Assurance &amp; Security</a:t>
            </a:r>
            <a:br>
              <a:rPr lang="en-US" altLang="en-US" sz="4000" dirty="0"/>
            </a:br>
            <a:r>
              <a:rPr lang="en-US" altLang="en-US" sz="4000" dirty="0"/>
              <a:t>Secure Computing </a:t>
            </a:r>
            <a:br>
              <a:rPr lang="en-US" altLang="en-US" sz="4000" dirty="0"/>
            </a:br>
            <a:r>
              <a:rPr lang="en-US" altLang="en-US" sz="2000" dirty="0"/>
              <a:t>(or Computing on Encrypted Data)</a:t>
            </a:r>
          </a:p>
        </p:txBody>
      </p:sp>
      <p:sp>
        <p:nvSpPr>
          <p:cNvPr id="12290" name="Subtitle 2">
            <a:extLst>
              <a:ext uri="{FF2B5EF4-FFF2-40B4-BE49-F238E27FC236}">
                <a16:creationId xmlns:a16="http://schemas.microsoft.com/office/drawing/2014/main" id="{BF68BBEA-B60F-D346-A0D6-A7A990AC9C2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z="2800" dirty="0"/>
              <a:t>Lecture 1: Introduction </a:t>
            </a:r>
          </a:p>
          <a:p>
            <a:r>
              <a:rPr lang="en-US" altLang="en-US" sz="1800" dirty="0"/>
              <a:t>Instructor: Muhamad Felemban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Content Placeholder 2">
            <a:extLst>
              <a:ext uri="{FF2B5EF4-FFF2-40B4-BE49-F238E27FC236}">
                <a16:creationId xmlns:a16="http://schemas.microsoft.com/office/drawing/2014/main" id="{697074E6-0869-7F42-90DC-94DCB254C9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Security is about protecting data/systems from external or internal forces by preserving the three “pillars” of security</a:t>
            </a:r>
          </a:p>
          <a:p>
            <a:pPr lvl="1"/>
            <a:r>
              <a:rPr lang="en-US" altLang="en-US" dirty="0"/>
              <a:t>Confidentiality </a:t>
            </a:r>
          </a:p>
          <a:p>
            <a:pPr lvl="2"/>
            <a:r>
              <a:rPr lang="en-US" altLang="en-US" dirty="0"/>
              <a:t>Access to systems or data is limited to </a:t>
            </a:r>
            <a:br>
              <a:rPr lang="en-US" altLang="en-US" dirty="0"/>
            </a:br>
            <a:r>
              <a:rPr lang="en-US" altLang="en-US" dirty="0"/>
              <a:t>authorized parties</a:t>
            </a:r>
          </a:p>
          <a:p>
            <a:pPr lvl="1"/>
            <a:r>
              <a:rPr lang="en-US" altLang="en-US" dirty="0"/>
              <a:t>Integrity </a:t>
            </a:r>
          </a:p>
          <a:p>
            <a:pPr lvl="2"/>
            <a:r>
              <a:rPr lang="en-US" altLang="en-US" dirty="0"/>
              <a:t>When you receive data, you get the </a:t>
            </a:r>
            <a:br>
              <a:rPr lang="en-US" altLang="en-US" dirty="0"/>
            </a:br>
            <a:r>
              <a:rPr lang="en-US" altLang="en-US" dirty="0"/>
              <a:t>“right” data</a:t>
            </a:r>
          </a:p>
          <a:p>
            <a:pPr lvl="1"/>
            <a:r>
              <a:rPr lang="en-US" altLang="en-US" dirty="0"/>
              <a:t>Availability</a:t>
            </a:r>
          </a:p>
          <a:p>
            <a:pPr lvl="2"/>
            <a:r>
              <a:rPr lang="en-US" altLang="en-US" dirty="0"/>
              <a:t>The system (or data) is “available” when you need 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19054-97A9-614D-8ACB-A4B69DBE3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SEC595: Encrypted Computing | Dr. Muhamad Felemban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7D2A9D-0C93-624E-AAE1-50BB1BF8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79C-BA14-6743-B5E9-E73E392A7250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15365" name="Title 1">
            <a:extLst>
              <a:ext uri="{FF2B5EF4-FFF2-40B4-BE49-F238E27FC236}">
                <a16:creationId xmlns:a16="http://schemas.microsoft.com/office/drawing/2014/main" id="{875B3156-BED4-A342-B69B-10B72FBAA2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Is Security?</a:t>
            </a:r>
          </a:p>
        </p:txBody>
      </p:sp>
      <p:pic>
        <p:nvPicPr>
          <p:cNvPr id="15366" name="Picture 6">
            <a:extLst>
              <a:ext uri="{FF2B5EF4-FFF2-40B4-BE49-F238E27FC236}">
                <a16:creationId xmlns:a16="http://schemas.microsoft.com/office/drawing/2014/main" id="{12264136-8EEC-994B-94B6-CBEF775E8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037" y="2362200"/>
            <a:ext cx="2445651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Content Placeholder 2">
            <a:extLst>
              <a:ext uri="{FF2B5EF4-FFF2-40B4-BE49-F238E27FC236}">
                <a16:creationId xmlns:a16="http://schemas.microsoft.com/office/drawing/2014/main" id="{A5AE41A0-CC82-F347-B7C8-E5D762AAE6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What Is Privacy?</a:t>
            </a:r>
          </a:p>
          <a:p>
            <a:r>
              <a:rPr lang="en-US" altLang="en-US" dirty="0"/>
              <a:t>The terms are often used interchangeably </a:t>
            </a:r>
          </a:p>
          <a:p>
            <a:pPr lvl="1"/>
            <a:r>
              <a:rPr lang="en-US" altLang="en-US" dirty="0"/>
              <a:t>In this course, hopefully you will be able to distinguish between the two</a:t>
            </a:r>
          </a:p>
          <a:p>
            <a:r>
              <a:rPr lang="en-US" dirty="0"/>
              <a:t>Two widely accepted definitions of privacy </a:t>
            </a:r>
          </a:p>
          <a:p>
            <a:pPr lvl="1"/>
            <a:r>
              <a:rPr lang="en-US" dirty="0"/>
              <a:t>"The right to be let alone"</a:t>
            </a:r>
          </a:p>
          <a:p>
            <a:pPr lvl="1"/>
            <a:r>
              <a:rPr lang="en-US" dirty="0"/>
              <a:t>"The fair use of information“</a:t>
            </a:r>
          </a:p>
          <a:p>
            <a:r>
              <a:rPr lang="en-US" dirty="0"/>
              <a:t>Privacy is relative to individuals, families, societies, countries, etc.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5FEA41-4713-B64F-9DB0-FB56CB859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SEC595: Encrypted Computing | Dr. Muhamad Felemban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7F4D10-1457-F14B-8643-24120E210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79C-BA14-6743-B5E9-E73E392A7250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17413" name="Title 1">
            <a:extLst>
              <a:ext uri="{FF2B5EF4-FFF2-40B4-BE49-F238E27FC236}">
                <a16:creationId xmlns:a16="http://schemas.microsoft.com/office/drawing/2014/main" id="{3C39BEA4-F088-5D40-B560-5649945CF9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Security Vs. Privacy</a:t>
            </a:r>
          </a:p>
        </p:txBody>
      </p:sp>
    </p:spTree>
    <p:extLst>
      <p:ext uri="{BB962C8B-B14F-4D97-AF65-F5344CB8AC3E}">
        <p14:creationId xmlns:p14="http://schemas.microsoft.com/office/powerpoint/2010/main" val="340627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280AE2-1FC0-38E9-9D35-13D31B8A7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393" y="1219200"/>
            <a:ext cx="4861214" cy="12227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0185DC-3F5A-63F5-9BB1-8F419152487A}"/>
              </a:ext>
            </a:extLst>
          </p:cNvPr>
          <p:cNvSpPr txBox="1"/>
          <p:nvPr/>
        </p:nvSpPr>
        <p:spPr>
          <a:xfrm>
            <a:off x="609600" y="2982568"/>
            <a:ext cx="71691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“The ability to compute on encrypted data is fast becoming a practical reality. We discuss the progress in four technologies which enable this:”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92FF7-A9B7-38AE-EB47-5CF65030B42F}"/>
              </a:ext>
            </a:extLst>
          </p:cNvPr>
          <p:cNvSpPr txBox="1"/>
          <p:nvPr/>
        </p:nvSpPr>
        <p:spPr>
          <a:xfrm>
            <a:off x="1666633" y="6292695"/>
            <a:ext cx="65341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</a:t>
            </a:r>
            <a:r>
              <a:rPr lang="en-US" sz="1000" dirty="0" err="1"/>
              <a:t>www.computer.org</a:t>
            </a:r>
            <a:r>
              <a:rPr lang="en-US" sz="1000" dirty="0"/>
              <a:t>/</a:t>
            </a:r>
            <a:r>
              <a:rPr lang="en-US" sz="1000" dirty="0" err="1"/>
              <a:t>csdl</a:t>
            </a:r>
            <a:r>
              <a:rPr lang="en-US" sz="1000" dirty="0"/>
              <a:t>/magazine/</a:t>
            </a:r>
            <a:r>
              <a:rPr lang="en-US" sz="1000" dirty="0" err="1"/>
              <a:t>sp</a:t>
            </a:r>
            <a:r>
              <a:rPr lang="en-US" sz="1000" dirty="0"/>
              <a:t>/2023/04/10194492/1P4BEqduz9C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E8768FD-5A45-E3C9-8656-BC2F769AE8F5}"/>
              </a:ext>
            </a:extLst>
          </p:cNvPr>
          <p:cNvSpPr/>
          <p:nvPr/>
        </p:nvSpPr>
        <p:spPr>
          <a:xfrm>
            <a:off x="779584" y="4261820"/>
            <a:ext cx="1682751" cy="1060449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Trusted Execution Environments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2E9F998-9FA6-5879-A5BE-50F60CC6C42E}"/>
              </a:ext>
            </a:extLst>
          </p:cNvPr>
          <p:cNvSpPr/>
          <p:nvPr/>
        </p:nvSpPr>
        <p:spPr>
          <a:xfrm>
            <a:off x="2692400" y="4273551"/>
            <a:ext cx="1682751" cy="1060448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Fully Homomorphic Encryption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B04C58A-1202-AC1D-DE0D-7BE96A1A3233}"/>
              </a:ext>
            </a:extLst>
          </p:cNvPr>
          <p:cNvSpPr/>
          <p:nvPr/>
        </p:nvSpPr>
        <p:spPr>
          <a:xfrm>
            <a:off x="4605216" y="4273548"/>
            <a:ext cx="1682751" cy="1060448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Multi-Party Computation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F9B9FF1-79FE-4829-9E7B-E332E272892C}"/>
              </a:ext>
            </a:extLst>
          </p:cNvPr>
          <p:cNvSpPr/>
          <p:nvPr/>
        </p:nvSpPr>
        <p:spPr>
          <a:xfrm>
            <a:off x="6518032" y="4273548"/>
            <a:ext cx="1682751" cy="1060448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Zero-Knowledge Proofs.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6AB6EF-9826-2F5F-3224-15F36EAC7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EAEC-5119-3448-A2E0-12A2CED95A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487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Name inspired by ring-homomorphism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79C-BA14-6743-B5E9-E73E392A7250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Homomorphic Encryption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57350" y="2686050"/>
            <a:ext cx="2057400" cy="857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/>
              <a:t>Ring of plaintexts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683934"/>
            <a:ext cx="2057400" cy="857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/>
              <a:t>Ring of </a:t>
            </a:r>
            <a:r>
              <a:rPr lang="en-US" sz="2100" dirty="0" err="1"/>
              <a:t>ciphertexts</a:t>
            </a:r>
            <a:endParaRPr lang="en-US" sz="2100" dirty="0"/>
          </a:p>
        </p:txBody>
      </p:sp>
      <p:sp>
        <p:nvSpPr>
          <p:cNvPr id="6" name="Rounded Rectangle 5"/>
          <p:cNvSpPr/>
          <p:nvPr/>
        </p:nvSpPr>
        <p:spPr>
          <a:xfrm>
            <a:off x="1657350" y="4516967"/>
            <a:ext cx="2057400" cy="857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/>
              <a:t>Ring of plaintexts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14850"/>
            <a:ext cx="2057400" cy="857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/>
              <a:t>Ring of </a:t>
            </a:r>
            <a:r>
              <a:rPr lang="en-US" sz="2100" dirty="0" err="1"/>
              <a:t>ciphertexts</a:t>
            </a:r>
            <a:endParaRPr lang="en-US" sz="2100" dirty="0"/>
          </a:p>
        </p:txBody>
      </p:sp>
      <p:cxnSp>
        <p:nvCxnSpPr>
          <p:cNvPr id="9" name="Straight Arrow Connector 8"/>
          <p:cNvCxnSpPr>
            <a:stCxn id="4" idx="3"/>
            <a:endCxn id="5" idx="1"/>
          </p:cNvCxnSpPr>
          <p:nvPr/>
        </p:nvCxnSpPr>
        <p:spPr>
          <a:xfrm flipV="1">
            <a:off x="3714750" y="3112558"/>
            <a:ext cx="1314450" cy="211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  <a:endCxn id="7" idx="1"/>
          </p:cNvCxnSpPr>
          <p:nvPr/>
        </p:nvCxnSpPr>
        <p:spPr>
          <a:xfrm flipV="1">
            <a:off x="3714750" y="4943475"/>
            <a:ext cx="1314450" cy="211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4" idx="2"/>
            <a:endCxn id="6" idx="0"/>
          </p:cNvCxnSpPr>
          <p:nvPr/>
        </p:nvCxnSpPr>
        <p:spPr>
          <a:xfrm>
            <a:off x="2686050" y="3543300"/>
            <a:ext cx="0" cy="97366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2"/>
            <a:endCxn id="7" idx="0"/>
          </p:cNvCxnSpPr>
          <p:nvPr/>
        </p:nvCxnSpPr>
        <p:spPr>
          <a:xfrm>
            <a:off x="6057900" y="3541183"/>
            <a:ext cx="0" cy="973667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58743" y="2866251"/>
            <a:ext cx="48763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 err="1"/>
              <a:t>Enc</a:t>
            </a:r>
            <a:endParaRPr lang="en-US" sz="1500" dirty="0"/>
          </a:p>
        </p:txBody>
      </p:sp>
      <p:sp>
        <p:nvSpPr>
          <p:cNvPr id="17" name="TextBox 16"/>
          <p:cNvSpPr txBox="1"/>
          <p:nvPr/>
        </p:nvSpPr>
        <p:spPr>
          <a:xfrm>
            <a:off x="4158743" y="4695051"/>
            <a:ext cx="48763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 err="1"/>
              <a:t>Enc</a:t>
            </a: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000751" y="3894951"/>
                <a:ext cx="660758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>
                          <a:latin typeface="Cambria Math"/>
                          <a:ea typeface="Cambria Math"/>
                        </a:rPr>
                        <m:t>⊞</m:t>
                      </m:r>
                      <m:r>
                        <a:rPr lang="en-US" sz="1500" i="1">
                          <a:latin typeface="Cambria Math"/>
                        </a:rPr>
                        <m:t>, </m:t>
                      </m:r>
                      <m:r>
                        <a:rPr lang="en-US" sz="1500" i="1">
                          <a:latin typeface="Cambria Math"/>
                          <a:ea typeface="Cambria Math"/>
                        </a:rPr>
                        <m:t>⊠</m:t>
                      </m:r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0751" y="3894951"/>
                <a:ext cx="660758" cy="323165"/>
              </a:xfrm>
              <a:prstGeom prst="rect">
                <a:avLst/>
              </a:prstGeom>
              <a:blipFill>
                <a:blip r:embed="rId2"/>
                <a:stretch>
                  <a:fillRect b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09769" y="3894951"/>
                <a:ext cx="567784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>
                          <a:latin typeface="Cambria Math"/>
                        </a:rPr>
                        <m:t>+, ×</m:t>
                      </m:r>
                    </m:oMath>
                  </m:oMathPara>
                </a14:m>
                <a:endParaRPr lang="en-US" sz="15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769" y="3894951"/>
                <a:ext cx="567784" cy="3231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019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Encryption: Double the plaintext.   x → 2x</a:t>
            </a:r>
          </a:p>
          <a:p>
            <a:r>
              <a:rPr lang="en-US" dirty="0"/>
              <a:t>Decryption: Halve the </a:t>
            </a:r>
            <a:r>
              <a:rPr lang="en-US" dirty="0" err="1"/>
              <a:t>ciphertext</a:t>
            </a:r>
            <a:r>
              <a:rPr lang="en-US" dirty="0"/>
              <a:t>.   x → x/2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79C-BA14-6743-B5E9-E73E392A7250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Toy HE Scheme </a:t>
            </a:r>
          </a:p>
        </p:txBody>
      </p:sp>
      <p:pic>
        <p:nvPicPr>
          <p:cNvPr id="1026" name="Picture 2" descr="C:\Documents and Settings\craig\Desktop\ATT\2012842015349223-2012-09HayesF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9404" y="2826369"/>
            <a:ext cx="4762500" cy="2438400"/>
          </a:xfrm>
          <a:prstGeom prst="rect">
            <a:avLst/>
          </a:prstGeom>
          <a:noFill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CACE1CD-360B-E14D-9B8B-383530780052}"/>
              </a:ext>
            </a:extLst>
          </p:cNvPr>
          <p:cNvSpPr/>
          <p:nvPr/>
        </p:nvSpPr>
        <p:spPr>
          <a:xfrm>
            <a:off x="2470414" y="5355092"/>
            <a:ext cx="376671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</a:t>
            </a:r>
            <a:r>
              <a:rPr lang="en-US" sz="900" dirty="0" err="1"/>
              <a:t>www.americanscientist.org</a:t>
            </a:r>
            <a:r>
              <a:rPr lang="en-US" sz="900" dirty="0"/>
              <a:t>/article/</a:t>
            </a:r>
            <a:r>
              <a:rPr lang="en-US" sz="900" dirty="0" err="1"/>
              <a:t>alice</a:t>
            </a:r>
            <a:r>
              <a:rPr lang="en-US" sz="900" dirty="0"/>
              <a:t>-and-bob-in-</a:t>
            </a:r>
            <a:r>
              <a:rPr lang="en-US" sz="900" dirty="0" err="1"/>
              <a:t>cipherspace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16089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0C2E35-EA8E-8F42-B83B-12240BA96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764466"/>
            <a:ext cx="8458200" cy="187220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Alice wants workers to assemble raw materials into jewelry</a:t>
            </a:r>
          </a:p>
          <a:p>
            <a:r>
              <a:rPr lang="en-US" dirty="0"/>
              <a:t>But Alice is worried about theft:</a:t>
            </a:r>
          </a:p>
          <a:p>
            <a:pPr lvl="1"/>
            <a:r>
              <a:rPr lang="en-US" dirty="0"/>
              <a:t>She wants workers to process raw materials without having access.</a:t>
            </a:r>
          </a:p>
          <a:p>
            <a:r>
              <a:rPr lang="en-US" dirty="0"/>
              <a:t>Alice puts raw materials in locked glovebox.</a:t>
            </a:r>
          </a:p>
          <a:p>
            <a:r>
              <a:rPr lang="en-US" dirty="0"/>
              <a:t>Workers assemble jewelry inside glovebox, using the gloves.</a:t>
            </a:r>
          </a:p>
          <a:p>
            <a:r>
              <a:rPr lang="en-US" dirty="0"/>
              <a:t>Alice unlocks box to get “results”.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79C-BA14-6743-B5E9-E73E392A7250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91D5EE-7573-8E4D-B1A5-5BB0BA840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Analogy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A7B392-E898-774D-8EB4-F2671BD5E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36398" y="4904995"/>
            <a:ext cx="754856" cy="754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 descr="C:\Documents and Settings\craig\Local Settings\Temporary Internet Files\Content.IE5\VOIW5Q5X\MCj04314930000[1].png">
            <a:extLst>
              <a:ext uri="{FF2B5EF4-FFF2-40B4-BE49-F238E27FC236}">
                <a16:creationId xmlns:a16="http://schemas.microsoft.com/office/drawing/2014/main" id="{D9838357-6459-FF48-AEDA-820F276C5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31910" y="5276471"/>
            <a:ext cx="197558" cy="467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3">
            <a:extLst>
              <a:ext uri="{FF2B5EF4-FFF2-40B4-BE49-F238E27FC236}">
                <a16:creationId xmlns:a16="http://schemas.microsoft.com/office/drawing/2014/main" id="{8B87493E-DF49-9447-908D-0C7C98CBB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5660" y="3933444"/>
            <a:ext cx="1385542" cy="15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9" descr="C:\Documents and Settings\craig\Local Settings\Temporary Internet Files\Content.IE5\HPOK5E8N\MCj02810810000[1].wmf">
            <a:extLst>
              <a:ext uri="{FF2B5EF4-FFF2-40B4-BE49-F238E27FC236}">
                <a16:creationId xmlns:a16="http://schemas.microsoft.com/office/drawing/2014/main" id="{908B5CCA-D7D2-0B43-90AB-2B4A95BF3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 flipH="1">
            <a:off x="6274117" y="3851711"/>
            <a:ext cx="1485900" cy="1324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4" descr="C:\Documents and Settings\craig\Local Settings\Temporary Internet Files\Content.IE5\MD12BDCG\MPj03143340000[1].jpg">
            <a:extLst>
              <a:ext uri="{FF2B5EF4-FFF2-40B4-BE49-F238E27FC236}">
                <a16:creationId xmlns:a16="http://schemas.microsoft.com/office/drawing/2014/main" id="{525FC1C5-1A7A-CF48-9B0C-B7A775121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746060" y="5047871"/>
            <a:ext cx="761555" cy="51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44" descr="C:\Documents and Settings\craig\Local Settings\Temporary Internet Files\Content.IE5\HPOK5E8N\MPj03143330000[1].jpg">
            <a:extLst>
              <a:ext uri="{FF2B5EF4-FFF2-40B4-BE49-F238E27FC236}">
                <a16:creationId xmlns:a16="http://schemas.microsoft.com/office/drawing/2014/main" id="{9D89311E-F133-594D-AF00-77139270A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140075" y="3744391"/>
            <a:ext cx="342900" cy="663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42">
            <a:extLst>
              <a:ext uri="{FF2B5EF4-FFF2-40B4-BE49-F238E27FC236}">
                <a16:creationId xmlns:a16="http://schemas.microsoft.com/office/drawing/2014/main" id="{6DD0D9D2-F6C4-974B-8DC6-479DB4D9C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803209" y="4476370"/>
            <a:ext cx="685800" cy="51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31" descr="C:\Documents and Settings\craig\Local Settings\Temporary Internet Files\Content.IE5\VOIW5Q5X\MCj04418040000[1].png">
            <a:extLst>
              <a:ext uri="{FF2B5EF4-FFF2-40B4-BE49-F238E27FC236}">
                <a16:creationId xmlns:a16="http://schemas.microsoft.com/office/drawing/2014/main" id="{0CA1F475-98AC-C842-B88E-5A7662007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886955" y="4247771"/>
            <a:ext cx="1710174" cy="1177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31" descr="C:\Documents and Settings\craig\Local Settings\Temporary Internet Files\Content.IE5\VOIW5Q5X\MCj04418040000[1].png">
            <a:extLst>
              <a:ext uri="{FF2B5EF4-FFF2-40B4-BE49-F238E27FC236}">
                <a16:creationId xmlns:a16="http://schemas.microsoft.com/office/drawing/2014/main" id="{80A63F1A-A4F8-BE4F-A70F-6056BF512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879791" y="4226466"/>
            <a:ext cx="1710174" cy="1177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Cube 33">
            <a:extLst>
              <a:ext uri="{FF2B5EF4-FFF2-40B4-BE49-F238E27FC236}">
                <a16:creationId xmlns:a16="http://schemas.microsoft.com/office/drawing/2014/main" id="{C890C234-E59C-FD4B-8C21-C0EE2E8709F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758474" y="4110280"/>
            <a:ext cx="1754076" cy="1656368"/>
          </a:xfrm>
          <a:prstGeom prst="cube">
            <a:avLst>
              <a:gd name="adj" fmla="val 25000"/>
            </a:avLst>
          </a:prstGeom>
          <a:solidFill>
            <a:schemeClr val="accent1">
              <a:alpha val="10196"/>
            </a:schemeClr>
          </a:solidFill>
          <a:ln w="15875" algn="ctr">
            <a:solidFill>
              <a:schemeClr val="tx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7500" b="1">
                <a:solidFill>
                  <a:srgbClr val="5D5DC9"/>
                </a:solidFill>
                <a:latin typeface="Comic Sans MS" pitchFamily="66" charset="0"/>
              </a:rPr>
              <a:t> </a:t>
            </a:r>
          </a:p>
        </p:txBody>
      </p:sp>
      <p:grpSp>
        <p:nvGrpSpPr>
          <p:cNvPr id="17" name="Group 35">
            <a:extLst>
              <a:ext uri="{FF2B5EF4-FFF2-40B4-BE49-F238E27FC236}">
                <a16:creationId xmlns:a16="http://schemas.microsoft.com/office/drawing/2014/main" id="{731478BF-2D78-2F4F-B979-C156CA073ADD}"/>
              </a:ext>
            </a:extLst>
          </p:cNvPr>
          <p:cNvGrpSpPr/>
          <p:nvPr/>
        </p:nvGrpSpPr>
        <p:grpSpPr>
          <a:xfrm>
            <a:off x="3825051" y="3609976"/>
            <a:ext cx="285750" cy="1143000"/>
            <a:chOff x="2971800" y="2667001"/>
            <a:chExt cx="381000" cy="1524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C9F4C10-8C84-8E4C-828D-D9C558081EB1}"/>
                </a:ext>
              </a:extLst>
            </p:cNvPr>
            <p:cNvCxnSpPr/>
            <p:nvPr/>
          </p:nvCxnSpPr>
          <p:spPr>
            <a:xfrm rot="5400000">
              <a:off x="2400300" y="3238501"/>
              <a:ext cx="1143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A1EF85D-D0C7-DC4D-AD13-6050BF3D7FDB}"/>
                </a:ext>
              </a:extLst>
            </p:cNvPr>
            <p:cNvCxnSpPr/>
            <p:nvPr/>
          </p:nvCxnSpPr>
          <p:spPr>
            <a:xfrm rot="5400000">
              <a:off x="2781300" y="3619501"/>
              <a:ext cx="1143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358B52D-7495-3542-8F09-2504C4A18505}"/>
                </a:ext>
              </a:extLst>
            </p:cNvPr>
            <p:cNvCxnSpPr/>
            <p:nvPr/>
          </p:nvCxnSpPr>
          <p:spPr>
            <a:xfrm rot="16200000" flipH="1">
              <a:off x="2971800" y="2667001"/>
              <a:ext cx="381000" cy="381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3333F9-75D1-284D-A908-B38B467B167C}"/>
                </a:ext>
              </a:extLst>
            </p:cNvPr>
            <p:cNvCxnSpPr/>
            <p:nvPr/>
          </p:nvCxnSpPr>
          <p:spPr>
            <a:xfrm rot="16200000" flipH="1">
              <a:off x="2971800" y="3810001"/>
              <a:ext cx="381000" cy="381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40">
            <a:extLst>
              <a:ext uri="{FF2B5EF4-FFF2-40B4-BE49-F238E27FC236}">
                <a16:creationId xmlns:a16="http://schemas.microsoft.com/office/drawing/2014/main" id="{789E356D-B594-3B4F-B8D8-62892F2796DE}"/>
              </a:ext>
            </a:extLst>
          </p:cNvPr>
          <p:cNvGrpSpPr/>
          <p:nvPr/>
        </p:nvGrpSpPr>
        <p:grpSpPr>
          <a:xfrm>
            <a:off x="3825479" y="4476370"/>
            <a:ext cx="285750" cy="1143000"/>
            <a:chOff x="2971800" y="2667001"/>
            <a:chExt cx="381000" cy="1524000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8D7187B-603F-BB4C-B914-F179490044C9}"/>
                </a:ext>
              </a:extLst>
            </p:cNvPr>
            <p:cNvCxnSpPr/>
            <p:nvPr/>
          </p:nvCxnSpPr>
          <p:spPr>
            <a:xfrm rot="5400000">
              <a:off x="2400300" y="3238501"/>
              <a:ext cx="1143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789F1EF-6C10-C647-9980-2A222E9C386D}"/>
                </a:ext>
              </a:extLst>
            </p:cNvPr>
            <p:cNvCxnSpPr/>
            <p:nvPr/>
          </p:nvCxnSpPr>
          <p:spPr>
            <a:xfrm rot="5400000">
              <a:off x="2781300" y="3619501"/>
              <a:ext cx="1143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EE51E1C-90B7-7043-8DDA-06A36A524872}"/>
                </a:ext>
              </a:extLst>
            </p:cNvPr>
            <p:cNvCxnSpPr/>
            <p:nvPr/>
          </p:nvCxnSpPr>
          <p:spPr>
            <a:xfrm rot="16200000" flipH="1">
              <a:off x="2971800" y="2667001"/>
              <a:ext cx="381000" cy="381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B666C8-ADCC-014A-8C67-6F697D8B824B}"/>
                </a:ext>
              </a:extLst>
            </p:cNvPr>
            <p:cNvCxnSpPr/>
            <p:nvPr/>
          </p:nvCxnSpPr>
          <p:spPr>
            <a:xfrm rot="16200000" flipH="1">
              <a:off x="2971800" y="3810001"/>
              <a:ext cx="381000" cy="381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2413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7037E-6 L 0.2944 0.00532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14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3.7037E-6 L 0.23333 0.11667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67" y="5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44444E-6 L 0.13333 0.2132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67" y="106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3.7037E-6 L -0.00312 0.14629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7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3.7037E-7 L -0.15716 0.00509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65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716 0.00509 L 0.00117 0.00509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81481E-6 L -0.00104 -0.15555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-7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3.33333E-6 L -0.24674 -0.04885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44" y="-2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substackcdn.com/image/fetch/w_1456,c_limit,f_auto,q_auto:good,fl_progressive:steep/https%3A%2F%2Fbucketeer-e05bbc84-baa3-437e-9518-adb32be77984.s3.amazonaws.com%2Fpublic%2Fimages%2F906f5fb2-6324-428a-89f3-cd00f0f9eea7_1600x756.png">
            <a:extLst>
              <a:ext uri="{FF2B5EF4-FFF2-40B4-BE49-F238E27FC236}">
                <a16:creationId xmlns:a16="http://schemas.microsoft.com/office/drawing/2014/main" id="{A4E7E236-2F0E-59DB-5176-BC6D1BF9D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434" y="1807013"/>
            <a:ext cx="8561133" cy="4045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1029CF8-36D1-6DDE-5A7C-B5817D3A06A4}"/>
              </a:ext>
            </a:extLst>
          </p:cNvPr>
          <p:cNvSpPr/>
          <p:nvPr/>
        </p:nvSpPr>
        <p:spPr>
          <a:xfrm>
            <a:off x="7512979" y="2382963"/>
            <a:ext cx="1125020" cy="6241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ED890C-24F0-17ED-3CAB-917FA9498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Evolution of FHE Schemes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B6E71-2C10-EF28-87FB-EF37D53C2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EAEC-5119-3448-A2E0-12A2CED95A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44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DA026E-173D-CD4D-9B45-4C7B6DEEA6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"Unpadded" RSA is a </a:t>
                </a:r>
                <a:r>
                  <a:rPr lang="en-US" dirty="0">
                    <a:solidFill>
                      <a:srgbClr val="FF0000"/>
                    </a:solidFill>
                  </a:rPr>
                  <a:t>multiplicative</a:t>
                </a:r>
                <a:r>
                  <a:rPr lang="en-US" dirty="0"/>
                  <a:t> homomorphic encryption scheme 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Recall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𝑃𝐾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)=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baseline="30000" dirty="0" err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𝑃𝐾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𝑃𝐾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baseline="30000" dirty="0" err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𝑃𝐾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192881" lvl="1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How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𝑃𝐾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?</a:t>
                </a:r>
              </a:p>
              <a:p>
                <a:pPr lvl="1"/>
                <a:endParaRPr lang="en-US" baseline="30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DA026E-173D-CD4D-9B45-4C7B6DEEA6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7" t="-1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79C-BA14-6743-B5E9-E73E392A7250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11D1C-A1B5-9C4D-B62F-108BEF9D7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 of Homomorphic Encryption</a:t>
            </a:r>
          </a:p>
        </p:txBody>
      </p:sp>
    </p:spTree>
    <p:extLst>
      <p:ext uri="{BB962C8B-B14F-4D97-AF65-F5344CB8AC3E}">
        <p14:creationId xmlns:p14="http://schemas.microsoft.com/office/powerpoint/2010/main" val="289821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DA026E-173D-CD4D-9B45-4C7B6DEEA6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Paillier cryptosystem is an </a:t>
                </a:r>
                <a:r>
                  <a:rPr lang="en-US" dirty="0">
                    <a:solidFill>
                      <a:srgbClr val="FF0000"/>
                    </a:solidFill>
                  </a:rPr>
                  <a:t>additive</a:t>
                </a:r>
                <a:r>
                  <a:rPr lang="en-US" dirty="0"/>
                  <a:t> homomorphic encryption scheme </a:t>
                </a:r>
              </a:p>
              <a:p>
                <a:pPr lvl="1"/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𝑃𝐾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𝑃𝐾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𝑃𝐾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bSup>
                          <m:sSub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sSubSup>
                          <m:sSubSup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𝑃𝐾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How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𝑃𝐾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  <a:p>
                <a:pPr lvl="1"/>
                <a:endParaRPr lang="en-US" baseline="30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DA026E-173D-CD4D-9B45-4C7B6DEEA6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7" t="-1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79C-BA14-6743-B5E9-E73E392A7250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611D1C-A1B5-9C4D-B62F-108BEF9D7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 of Homomorphic Encryption</a:t>
            </a:r>
          </a:p>
        </p:txBody>
      </p:sp>
    </p:spTree>
    <p:extLst>
      <p:ext uri="{BB962C8B-B14F-4D97-AF65-F5344CB8AC3E}">
        <p14:creationId xmlns:p14="http://schemas.microsoft.com/office/powerpoint/2010/main" val="76927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1008923" y="1599676"/>
            <a:ext cx="6963504" cy="38965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Partially Homomorphic Encryption (PHE)</a:t>
            </a:r>
          </a:p>
          <a:p>
            <a:pPr lvl="1"/>
            <a:r>
              <a:rPr lang="en-US" dirty="0"/>
              <a:t>Can evaluate functions with very limited operations (+ or *)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Fully Homomorphic Encryption (FHE)</a:t>
            </a:r>
          </a:p>
          <a:p>
            <a:pPr lvl="1"/>
            <a:r>
              <a:rPr lang="en-US" dirty="0"/>
              <a:t>Arbitrary functions with any operations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79C-BA14-6743-B5E9-E73E392A7250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Homomorphic Encryption Types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7480DEE-A200-47A1-9F9F-04A793E5FE7B}"/>
              </a:ext>
            </a:extLst>
          </p:cNvPr>
          <p:cNvCxnSpPr>
            <a:cxnSpLocks/>
          </p:cNvCxnSpPr>
          <p:nvPr/>
        </p:nvCxnSpPr>
        <p:spPr>
          <a:xfrm>
            <a:off x="586886" y="1955765"/>
            <a:ext cx="0" cy="228432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237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1D907E70-8E27-83D2-B0CC-DE7E9D91C0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Towards FHE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467BA171-ABD8-F1F5-FFD2-D1B208D4D3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Genrty09: A bootstrapping technique</a:t>
            </a:r>
          </a:p>
          <a:p>
            <a:pPr lvl="1">
              <a:buFont typeface="Wingdings" pitchFamily="2" charset="2"/>
              <a:buNone/>
            </a:pPr>
            <a:r>
              <a:rPr lang="en-US" altLang="en-US" dirty="0"/>
              <a:t>Somewhat homomorphic → Fully homomorphic</a:t>
            </a:r>
          </a:p>
          <a:p>
            <a:pPr>
              <a:spcBef>
                <a:spcPct val="300000"/>
              </a:spcBef>
            </a:pPr>
            <a:r>
              <a:rPr lang="en-US" altLang="en-US" dirty="0"/>
              <a:t>Gentry also described a candidate “bootstrappable” scheme</a:t>
            </a:r>
          </a:p>
          <a:p>
            <a:pPr lvl="1"/>
            <a:r>
              <a:rPr lang="en-US" altLang="en-US" dirty="0"/>
              <a:t>Based on ideal lattices</a:t>
            </a:r>
          </a:p>
          <a:p>
            <a:pPr lvl="1"/>
            <a:r>
              <a:rPr lang="en-US" altLang="en-US" dirty="0"/>
              <a:t>Then extended to integer values</a:t>
            </a:r>
          </a:p>
        </p:txBody>
      </p:sp>
      <p:sp>
        <p:nvSpPr>
          <p:cNvPr id="51204" name="Text Box 10">
            <a:extLst>
              <a:ext uri="{FF2B5EF4-FFF2-40B4-BE49-F238E27FC236}">
                <a16:creationId xmlns:a16="http://schemas.microsoft.com/office/drawing/2014/main" id="{978FE01E-BFD4-3372-2E54-5445E019E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8003" y="2393706"/>
            <a:ext cx="2455069" cy="784830"/>
          </a:xfrm>
          <a:prstGeom prst="rect">
            <a:avLst/>
          </a:prstGeom>
          <a:solidFill>
            <a:srgbClr val="F34B5B">
              <a:alpha val="16078"/>
            </a:srgbClr>
          </a:solidFill>
          <a:ln w="222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ctr">
              <a:spcBef>
                <a:spcPct val="25000"/>
              </a:spcBef>
            </a:pPr>
            <a:r>
              <a:rPr lang="en-US" altLang="en-US" sz="1500" dirty="0">
                <a:latin typeface="Comic Sans MS" panose="030F0902030302020204" pitchFamily="66" charset="0"/>
              </a:rPr>
              <a:t>Scheme E can evaluate its own decryption circuit</a:t>
            </a:r>
            <a:endParaRPr lang="en-US" altLang="en-US" sz="1500" b="1" dirty="0">
              <a:solidFill>
                <a:srgbClr val="5D5DC9"/>
              </a:solidFill>
              <a:latin typeface="Comic Sans MS" panose="030F0902030302020204" pitchFamily="66" charset="0"/>
            </a:endParaRPr>
          </a:p>
        </p:txBody>
      </p:sp>
      <p:sp>
        <p:nvSpPr>
          <p:cNvPr id="51205" name="Text Box 11">
            <a:extLst>
              <a:ext uri="{FF2B5EF4-FFF2-40B4-BE49-F238E27FC236}">
                <a16:creationId xmlns:a16="http://schemas.microsoft.com/office/drawing/2014/main" id="{83B91585-DF66-F41D-3444-3451CD099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647" y="2391325"/>
            <a:ext cx="2080022" cy="553998"/>
          </a:xfrm>
          <a:prstGeom prst="rect">
            <a:avLst/>
          </a:prstGeom>
          <a:solidFill>
            <a:srgbClr val="F34B5B">
              <a:alpha val="16078"/>
            </a:srgbClr>
          </a:solidFill>
          <a:ln w="222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fontAlgn="ctr">
              <a:spcBef>
                <a:spcPct val="25000"/>
              </a:spcBef>
            </a:pPr>
            <a:r>
              <a:rPr lang="en-US" altLang="en-US" sz="1500">
                <a:latin typeface="Comic Sans MS" panose="030F0902030302020204" pitchFamily="66" charset="0"/>
              </a:rPr>
              <a:t>Scheme E* can evaluate any circuit</a:t>
            </a:r>
            <a:endParaRPr lang="en-US" altLang="en-US" sz="1500" b="1">
              <a:solidFill>
                <a:srgbClr val="5D5DC9"/>
              </a:solidFill>
              <a:latin typeface="Comic Sans MS" panose="030F0902030302020204" pitchFamily="66" charset="0"/>
            </a:endParaRPr>
          </a:p>
        </p:txBody>
      </p:sp>
      <p:cxnSp>
        <p:nvCxnSpPr>
          <p:cNvPr id="51206" name="AutoShape 12">
            <a:extLst>
              <a:ext uri="{FF2B5EF4-FFF2-40B4-BE49-F238E27FC236}">
                <a16:creationId xmlns:a16="http://schemas.microsoft.com/office/drawing/2014/main" id="{F814A31C-B59A-52B1-CACA-D306748EFA52}"/>
              </a:ext>
            </a:extLst>
          </p:cNvPr>
          <p:cNvCxnSpPr>
            <a:cxnSpLocks noChangeShapeType="1"/>
            <a:stCxn id="51204" idx="3"/>
            <a:endCxn id="51205" idx="1"/>
          </p:cNvCxnSpPr>
          <p:nvPr/>
        </p:nvCxnSpPr>
        <p:spPr bwMode="auto">
          <a:xfrm flipV="1">
            <a:off x="4053072" y="2668324"/>
            <a:ext cx="790575" cy="117797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D1F7D2-D56F-09DF-41E8-5F952D65A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EAEC-5119-3448-A2E0-12A2CED95A32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 descr="https://substackcdn.com/image/fetch/w_1456,c_limit,f_auto,q_auto:good,fl_progressive:steep/https%3A%2F%2Fbucketeer-e05bbc84-baa3-437e-9518-adb32be77984.s3.amazonaws.com%2Fpublic%2Fimages%2F906f5fb2-6324-428a-89f3-cd00f0f9eea7_1600x756.png">
            <a:extLst>
              <a:ext uri="{FF2B5EF4-FFF2-40B4-BE49-F238E27FC236}">
                <a16:creationId xmlns:a16="http://schemas.microsoft.com/office/drawing/2014/main" id="{CF0182BC-D328-1058-B09C-6903289551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901" b="10256"/>
          <a:stretch/>
        </p:blipFill>
        <p:spPr bwMode="auto">
          <a:xfrm>
            <a:off x="5883658" y="2983585"/>
            <a:ext cx="2472722" cy="2512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4E376B2C-7977-2EE2-983C-9DB4295140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550"/>
              <a:t>A homomorphic symmetric encryption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6B9E3050-0493-0D42-43F1-9A39C8217F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7300" y="1828800"/>
            <a:ext cx="6515100" cy="3771900"/>
          </a:xfrm>
        </p:spPr>
        <p:txBody>
          <a:bodyPr/>
          <a:lstStyle/>
          <a:p>
            <a:r>
              <a:rPr lang="en-US" altLang="en-US" dirty="0"/>
              <a:t>Shared secret key: odd number </a:t>
            </a:r>
            <a:r>
              <a:rPr lang="en-US" altLang="en-US" dirty="0">
                <a:solidFill>
                  <a:srgbClr val="0000FF"/>
                </a:solidFill>
              </a:rPr>
              <a:t>p</a:t>
            </a:r>
            <a:endParaRPr lang="en-US" altLang="en-US" dirty="0"/>
          </a:p>
          <a:p>
            <a:r>
              <a:rPr lang="en-US" altLang="en-US" dirty="0"/>
              <a:t>To encrypt a bit </a:t>
            </a:r>
            <a:r>
              <a:rPr lang="en-US" altLang="en-US" dirty="0">
                <a:solidFill>
                  <a:srgbClr val="0000FF"/>
                </a:solidFill>
              </a:rPr>
              <a:t>m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Choose at random large </a:t>
            </a:r>
            <a:r>
              <a:rPr lang="en-US" altLang="en-US" dirty="0">
                <a:solidFill>
                  <a:srgbClr val="0000FF"/>
                </a:solidFill>
              </a:rPr>
              <a:t>q</a:t>
            </a:r>
            <a:r>
              <a:rPr lang="en-US" altLang="en-US" dirty="0"/>
              <a:t>, small </a:t>
            </a:r>
            <a:r>
              <a:rPr lang="en-US" altLang="en-US" dirty="0">
                <a:solidFill>
                  <a:srgbClr val="0000FF"/>
                </a:solidFill>
              </a:rPr>
              <a:t>r</a:t>
            </a:r>
          </a:p>
          <a:p>
            <a:pPr lvl="1"/>
            <a:r>
              <a:rPr lang="en-US" altLang="en-US" dirty="0"/>
              <a:t>Output </a:t>
            </a:r>
            <a:r>
              <a:rPr lang="en-US" altLang="en-US" dirty="0">
                <a:solidFill>
                  <a:srgbClr val="0000FF"/>
                </a:solidFill>
              </a:rPr>
              <a:t>c = </a:t>
            </a:r>
            <a:r>
              <a:rPr lang="en-US" altLang="en-US" dirty="0" err="1">
                <a:solidFill>
                  <a:srgbClr val="0000FF"/>
                </a:solidFill>
              </a:rPr>
              <a:t>pq</a:t>
            </a:r>
            <a:r>
              <a:rPr lang="en-US" altLang="en-US" dirty="0">
                <a:solidFill>
                  <a:srgbClr val="0000FF"/>
                </a:solidFill>
              </a:rPr>
              <a:t> + 2r + m</a:t>
            </a:r>
          </a:p>
          <a:p>
            <a:pPr lvl="2"/>
            <a:r>
              <a:rPr lang="en-US" altLang="en-US" dirty="0"/>
              <a:t>Ciphertext is close to a multiple of p</a:t>
            </a:r>
          </a:p>
          <a:p>
            <a:pPr lvl="2"/>
            <a:r>
              <a:rPr lang="en-US" altLang="en-US" dirty="0"/>
              <a:t>m = LSB of distance to nearest multiple of p </a:t>
            </a:r>
          </a:p>
          <a:p>
            <a:r>
              <a:rPr lang="en-US" altLang="en-US" dirty="0"/>
              <a:t>To decrypt c:</a:t>
            </a:r>
          </a:p>
          <a:p>
            <a:pPr lvl="1"/>
            <a:r>
              <a:rPr lang="en-US" altLang="en-US" dirty="0"/>
              <a:t>Output </a:t>
            </a:r>
            <a:r>
              <a:rPr lang="en-US" altLang="en-US" dirty="0">
                <a:solidFill>
                  <a:srgbClr val="0000FF"/>
                </a:solidFill>
              </a:rPr>
              <a:t>m = (c mod p) mod 2	</a:t>
            </a:r>
          </a:p>
          <a:p>
            <a:pPr marL="685800" lvl="2" indent="0">
              <a:spcBef>
                <a:spcPct val="10000"/>
              </a:spcBef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     m  =   c – p 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altLang="en-US" dirty="0">
                <a:solidFill>
                  <a:srgbClr val="0000FF"/>
                </a:solidFill>
              </a:rPr>
              <a:t>[c/p] mod 2</a:t>
            </a:r>
          </a:p>
          <a:p>
            <a:pPr lvl="2">
              <a:spcBef>
                <a:spcPct val="100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		=   c – [c/p] mod 2 </a:t>
            </a:r>
          </a:p>
          <a:p>
            <a:pPr lvl="2">
              <a:spcBef>
                <a:spcPct val="100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	 	=   LSB(c)  XOR  LSB([c/p])	</a:t>
            </a:r>
          </a:p>
        </p:txBody>
      </p:sp>
      <p:sp>
        <p:nvSpPr>
          <p:cNvPr id="54276" name="AutoShape 4">
            <a:extLst>
              <a:ext uri="{FF2B5EF4-FFF2-40B4-BE49-F238E27FC236}">
                <a16:creationId xmlns:a16="http://schemas.microsoft.com/office/drawing/2014/main" id="{0C4EC063-3B75-2CE5-4AD1-F99DECDE3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048000"/>
            <a:ext cx="2000250" cy="514350"/>
          </a:xfrm>
          <a:prstGeom prst="wedgeEllipseCallout">
            <a:avLst>
              <a:gd name="adj1" fmla="val -91370"/>
              <a:gd name="adj2" fmla="val -1852"/>
            </a:avLst>
          </a:prstGeom>
          <a:solidFill>
            <a:srgbClr val="CCFF3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US" altLang="en-US" sz="1200"/>
              <a:t>2r+m much smaller than 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D76586-176D-6BDF-DCAD-949AE1670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EAEC-5119-3448-A2E0-12A2CED95A32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4684162-2809-A3A3-2BD9-EEEF539F29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Why is this homomorphic?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7450A459-1C60-A211-4D12-CC813EC5F1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9648" y="1600200"/>
            <a:ext cx="7391400" cy="3896588"/>
          </a:xfrm>
        </p:spPr>
        <p:txBody>
          <a:bodyPr/>
          <a:lstStyle/>
          <a:p>
            <a:r>
              <a:rPr lang="en-US" altLang="en-US" dirty="0"/>
              <a:t>c</a:t>
            </a:r>
            <a:r>
              <a:rPr lang="en-US" altLang="en-US" baseline="-25000" dirty="0"/>
              <a:t>1</a:t>
            </a:r>
            <a:r>
              <a:rPr lang="en-US" altLang="en-US" dirty="0"/>
              <a:t>=q</a:t>
            </a:r>
            <a:r>
              <a:rPr lang="en-US" altLang="en-US" baseline="-25000" dirty="0"/>
              <a:t>1</a:t>
            </a:r>
            <a:r>
              <a:rPr lang="en-US" altLang="en-US" dirty="0"/>
              <a:t>p+2r</a:t>
            </a:r>
            <a:r>
              <a:rPr lang="en-US" altLang="en-US" baseline="-25000" dirty="0"/>
              <a:t>1</a:t>
            </a:r>
            <a:r>
              <a:rPr lang="en-US" altLang="en-US" dirty="0"/>
              <a:t>+m</a:t>
            </a:r>
            <a:r>
              <a:rPr lang="en-US" altLang="en-US" baseline="-25000" dirty="0"/>
              <a:t>1</a:t>
            </a:r>
            <a:r>
              <a:rPr lang="en-US" altLang="en-US" dirty="0"/>
              <a:t>,   c</a:t>
            </a:r>
            <a:r>
              <a:rPr lang="en-US" altLang="en-US" baseline="-25000" dirty="0"/>
              <a:t>2</a:t>
            </a:r>
            <a:r>
              <a:rPr lang="en-US" altLang="en-US" dirty="0"/>
              <a:t>=q</a:t>
            </a:r>
            <a:r>
              <a:rPr lang="en-US" altLang="en-US" baseline="-25000" dirty="0"/>
              <a:t>2</a:t>
            </a:r>
            <a:r>
              <a:rPr lang="en-US" altLang="en-US" dirty="0"/>
              <a:t>p+2r</a:t>
            </a:r>
            <a:r>
              <a:rPr lang="en-US" altLang="en-US" baseline="-25000" dirty="0"/>
              <a:t>2</a:t>
            </a:r>
            <a:r>
              <a:rPr lang="en-US" altLang="en-US" dirty="0"/>
              <a:t>+m</a:t>
            </a:r>
            <a:r>
              <a:rPr lang="en-US" altLang="en-US" baseline="-25000" dirty="0"/>
              <a:t>2</a:t>
            </a:r>
            <a:endParaRPr lang="en-US" altLang="en-US" dirty="0"/>
          </a:p>
          <a:p>
            <a:pPr>
              <a:spcBef>
                <a:spcPct val="75000"/>
              </a:spcBef>
            </a:pPr>
            <a:r>
              <a:rPr lang="en-US" altLang="en-US" dirty="0"/>
              <a:t>c</a:t>
            </a:r>
            <a:r>
              <a:rPr lang="en-US" altLang="en-US" baseline="-25000" dirty="0"/>
              <a:t>1</a:t>
            </a:r>
            <a:r>
              <a:rPr lang="en-US" altLang="en-US" dirty="0"/>
              <a:t>+c</a:t>
            </a:r>
            <a:r>
              <a:rPr lang="en-US" altLang="en-US" baseline="-25000" dirty="0"/>
              <a:t>2</a:t>
            </a:r>
            <a:r>
              <a:rPr lang="en-US" altLang="en-US" dirty="0"/>
              <a:t> = (q</a:t>
            </a:r>
            <a:r>
              <a:rPr lang="en-US" altLang="en-US" baseline="-25000" dirty="0"/>
              <a:t>1</a:t>
            </a:r>
            <a:r>
              <a:rPr lang="en-US" altLang="en-US" dirty="0"/>
              <a:t>+q</a:t>
            </a:r>
            <a:r>
              <a:rPr lang="en-US" altLang="en-US" baseline="-25000" dirty="0"/>
              <a:t>2</a:t>
            </a:r>
            <a:r>
              <a:rPr lang="en-US" altLang="en-US" dirty="0"/>
              <a:t>)p + 2(r</a:t>
            </a:r>
            <a:r>
              <a:rPr lang="en-US" altLang="en-US" baseline="-25000" dirty="0"/>
              <a:t>1</a:t>
            </a:r>
            <a:r>
              <a:rPr lang="en-US" altLang="en-US" dirty="0"/>
              <a:t>+r</a:t>
            </a:r>
            <a:r>
              <a:rPr lang="en-US" altLang="en-US" baseline="-25000" dirty="0"/>
              <a:t>2</a:t>
            </a:r>
            <a:r>
              <a:rPr lang="en-US" altLang="en-US" dirty="0"/>
              <a:t>) + (m</a:t>
            </a:r>
            <a:r>
              <a:rPr lang="en-US" altLang="en-US" baseline="-25000" dirty="0"/>
              <a:t>1</a:t>
            </a:r>
            <a:r>
              <a:rPr lang="en-US" altLang="en-US" dirty="0"/>
              <a:t>+m</a:t>
            </a:r>
            <a:r>
              <a:rPr lang="en-US" altLang="en-US" baseline="-25000" dirty="0"/>
              <a:t>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2(r</a:t>
            </a:r>
            <a:r>
              <a:rPr lang="en-US" altLang="en-US" baseline="-25000" dirty="0"/>
              <a:t>1</a:t>
            </a:r>
            <a:r>
              <a:rPr lang="en-US" altLang="en-US" dirty="0"/>
              <a:t>+r</a:t>
            </a:r>
            <a:r>
              <a:rPr lang="en-US" altLang="en-US" baseline="-25000" dirty="0"/>
              <a:t>2</a:t>
            </a:r>
            <a:r>
              <a:rPr lang="en-US" altLang="en-US" dirty="0"/>
              <a:t>)+(m</a:t>
            </a:r>
            <a:r>
              <a:rPr lang="en-US" altLang="en-US" baseline="-25000" dirty="0"/>
              <a:t>1</a:t>
            </a:r>
            <a:r>
              <a:rPr lang="en-US" altLang="en-US" dirty="0"/>
              <a:t>+m</a:t>
            </a:r>
            <a:r>
              <a:rPr lang="en-US" altLang="en-US" baseline="-25000" dirty="0"/>
              <a:t>2</a:t>
            </a:r>
            <a:r>
              <a:rPr lang="en-US" altLang="en-US" dirty="0"/>
              <a:t>) still much smaller than p</a:t>
            </a:r>
          </a:p>
          <a:p>
            <a:pPr lvl="1">
              <a:buFont typeface="Wingdings" pitchFamily="2" charset="2"/>
              <a:buNone/>
            </a:pPr>
            <a:r>
              <a:rPr lang="en-US" altLang="en-US" dirty="0">
                <a:sym typeface="Wingdings" pitchFamily="2" charset="2"/>
              </a:rPr>
              <a:t></a:t>
            </a:r>
            <a:r>
              <a:rPr lang="en-US" altLang="en-US" dirty="0"/>
              <a:t>c</a:t>
            </a:r>
            <a:r>
              <a:rPr lang="en-US" altLang="en-US" baseline="-25000" dirty="0"/>
              <a:t>1</a:t>
            </a:r>
            <a:r>
              <a:rPr lang="en-US" altLang="en-US" dirty="0"/>
              <a:t>+c</a:t>
            </a:r>
            <a:r>
              <a:rPr lang="en-US" altLang="en-US" baseline="-25000" dirty="0"/>
              <a:t>2</a:t>
            </a:r>
            <a:r>
              <a:rPr lang="en-US" altLang="en-US" dirty="0"/>
              <a:t> mod p = 2(r</a:t>
            </a:r>
            <a:r>
              <a:rPr lang="en-US" altLang="en-US" baseline="-25000" dirty="0"/>
              <a:t>1</a:t>
            </a:r>
            <a:r>
              <a:rPr lang="en-US" altLang="en-US" dirty="0"/>
              <a:t>+r</a:t>
            </a:r>
            <a:r>
              <a:rPr lang="en-US" altLang="en-US" baseline="-25000" dirty="0"/>
              <a:t>2</a:t>
            </a:r>
            <a:r>
              <a:rPr lang="en-US" altLang="en-US" dirty="0"/>
              <a:t>) + (m</a:t>
            </a:r>
            <a:r>
              <a:rPr lang="en-US" altLang="en-US" baseline="-25000" dirty="0"/>
              <a:t>1</a:t>
            </a:r>
            <a:r>
              <a:rPr lang="en-US" altLang="en-US" dirty="0"/>
              <a:t>+m</a:t>
            </a:r>
            <a:r>
              <a:rPr lang="en-US" altLang="en-US" baseline="-25000" dirty="0"/>
              <a:t>2</a:t>
            </a:r>
            <a:r>
              <a:rPr lang="en-US" altLang="en-US" dirty="0"/>
              <a:t>)</a:t>
            </a:r>
          </a:p>
          <a:p>
            <a:pPr>
              <a:spcBef>
                <a:spcPct val="75000"/>
              </a:spcBef>
            </a:pPr>
            <a:r>
              <a:rPr lang="en-US" altLang="en-US" dirty="0"/>
              <a:t>c</a:t>
            </a:r>
            <a:r>
              <a:rPr lang="en-US" altLang="en-US" baseline="-25000" dirty="0"/>
              <a:t>1</a:t>
            </a:r>
            <a:r>
              <a:rPr lang="en-US" altLang="en-US" dirty="0"/>
              <a:t> x c</a:t>
            </a:r>
            <a:r>
              <a:rPr lang="en-US" altLang="en-US" baseline="-25000" dirty="0"/>
              <a:t>2</a:t>
            </a:r>
            <a:r>
              <a:rPr lang="en-US" altLang="en-US" dirty="0"/>
              <a:t> = (c</a:t>
            </a:r>
            <a:r>
              <a:rPr lang="en-US" altLang="en-US" baseline="-25000" dirty="0"/>
              <a:t>1</a:t>
            </a:r>
            <a:r>
              <a:rPr lang="en-US" altLang="en-US" dirty="0"/>
              <a:t>q</a:t>
            </a:r>
            <a:r>
              <a:rPr lang="en-US" altLang="en-US" baseline="-25000" dirty="0"/>
              <a:t>2</a:t>
            </a:r>
            <a:r>
              <a:rPr lang="en-US" altLang="en-US" dirty="0"/>
              <a:t>+q</a:t>
            </a:r>
            <a:r>
              <a:rPr lang="en-US" altLang="en-US" baseline="-25000" dirty="0"/>
              <a:t>1</a:t>
            </a:r>
            <a:r>
              <a:rPr lang="en-US" altLang="en-US" dirty="0"/>
              <a:t>c</a:t>
            </a:r>
            <a:r>
              <a:rPr lang="en-US" altLang="en-US" baseline="-25000" dirty="0"/>
              <a:t>2</a:t>
            </a:r>
            <a:r>
              <a:rPr lang="en-US" altLang="en-US" dirty="0">
                <a:latin typeface="Symbol" pitchFamily="2" charset="2"/>
              </a:rPr>
              <a:t>-</a:t>
            </a:r>
            <a:r>
              <a:rPr lang="en-US" altLang="en-US" dirty="0"/>
              <a:t>q</a:t>
            </a:r>
            <a:r>
              <a:rPr lang="en-US" altLang="en-US" baseline="-25000" dirty="0"/>
              <a:t>1</a:t>
            </a:r>
            <a:r>
              <a:rPr lang="en-US" altLang="en-US" dirty="0"/>
              <a:t>q</a:t>
            </a:r>
            <a:r>
              <a:rPr lang="en-US" altLang="en-US" baseline="-25000" dirty="0"/>
              <a:t>2</a:t>
            </a:r>
            <a:r>
              <a:rPr lang="en-US" altLang="en-US" dirty="0"/>
              <a:t>)p </a:t>
            </a:r>
            <a:br>
              <a:rPr lang="en-US" altLang="en-US" dirty="0"/>
            </a:br>
            <a:r>
              <a:rPr lang="en-US" altLang="en-US" dirty="0"/>
              <a:t>	 	   + 2(2r</a:t>
            </a:r>
            <a:r>
              <a:rPr lang="en-US" altLang="en-US" baseline="-25000" dirty="0"/>
              <a:t>1</a:t>
            </a:r>
            <a:r>
              <a:rPr lang="en-US" altLang="en-US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+r</a:t>
            </a:r>
            <a:r>
              <a:rPr lang="en-US" altLang="en-US" baseline="-25000" dirty="0"/>
              <a:t>1</a:t>
            </a:r>
            <a:r>
              <a:rPr lang="en-US" altLang="en-US" dirty="0"/>
              <a:t>m</a:t>
            </a:r>
            <a:r>
              <a:rPr lang="en-US" altLang="en-US" baseline="-25000" dirty="0"/>
              <a:t>2</a:t>
            </a:r>
            <a:r>
              <a:rPr lang="en-US" altLang="en-US" dirty="0"/>
              <a:t>+m</a:t>
            </a:r>
            <a:r>
              <a:rPr lang="en-US" altLang="en-US" baseline="-25000" dirty="0"/>
              <a:t>1</a:t>
            </a:r>
            <a:r>
              <a:rPr lang="en-US" altLang="en-US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) + m</a:t>
            </a:r>
            <a:r>
              <a:rPr lang="en-US" altLang="en-US" baseline="-25000" dirty="0"/>
              <a:t>1</a:t>
            </a:r>
            <a:r>
              <a:rPr lang="en-US" altLang="en-US" dirty="0"/>
              <a:t>m</a:t>
            </a:r>
            <a:r>
              <a:rPr lang="en-US" altLang="en-US" baseline="-25000" dirty="0"/>
              <a:t>2</a:t>
            </a:r>
          </a:p>
          <a:p>
            <a:pPr lvl="1"/>
            <a:r>
              <a:rPr lang="en-US" altLang="en-US" dirty="0"/>
              <a:t>2(2r</a:t>
            </a:r>
            <a:r>
              <a:rPr lang="en-US" altLang="en-US" baseline="-25000" dirty="0"/>
              <a:t>1</a:t>
            </a:r>
            <a:r>
              <a:rPr lang="en-US" altLang="en-US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+…) still much smaller than p</a:t>
            </a:r>
          </a:p>
          <a:p>
            <a:pPr lvl="1">
              <a:buFont typeface="Wingdings" pitchFamily="2" charset="2"/>
              <a:buNone/>
            </a:pPr>
            <a:r>
              <a:rPr lang="en-US" altLang="en-US" dirty="0">
                <a:sym typeface="Wingdings" pitchFamily="2" charset="2"/>
              </a:rPr>
              <a:t></a:t>
            </a:r>
            <a:r>
              <a:rPr lang="en-US" altLang="en-US" dirty="0"/>
              <a:t>c</a:t>
            </a:r>
            <a:r>
              <a:rPr lang="en-US" altLang="en-US" baseline="-25000" dirty="0"/>
              <a:t>1</a:t>
            </a:r>
            <a:r>
              <a:rPr lang="en-US" altLang="en-US" dirty="0"/>
              <a:t>xc</a:t>
            </a:r>
            <a:r>
              <a:rPr lang="en-US" altLang="en-US" baseline="-25000" dirty="0"/>
              <a:t>2</a:t>
            </a:r>
            <a:r>
              <a:rPr lang="en-US" altLang="en-US" dirty="0"/>
              <a:t> mod p = 2(2r</a:t>
            </a:r>
            <a:r>
              <a:rPr lang="en-US" altLang="en-US" baseline="-25000" dirty="0"/>
              <a:t>1</a:t>
            </a:r>
            <a:r>
              <a:rPr lang="en-US" altLang="en-US" dirty="0"/>
              <a:t>r</a:t>
            </a:r>
            <a:r>
              <a:rPr lang="en-US" altLang="en-US" baseline="-25000" dirty="0"/>
              <a:t>2</a:t>
            </a:r>
            <a:r>
              <a:rPr lang="en-US" altLang="en-US" dirty="0"/>
              <a:t>+…) + m</a:t>
            </a:r>
            <a:r>
              <a:rPr lang="en-US" altLang="en-US" baseline="-25000" dirty="0"/>
              <a:t>1</a:t>
            </a:r>
            <a:r>
              <a:rPr lang="en-US" altLang="en-US" dirty="0"/>
              <a:t>m</a:t>
            </a:r>
            <a:r>
              <a:rPr lang="en-US" altLang="en-US" baseline="-25000" dirty="0"/>
              <a:t>2</a:t>
            </a:r>
            <a:endParaRPr lang="en-US" altLang="en-US" dirty="0"/>
          </a:p>
        </p:txBody>
      </p:sp>
      <p:grpSp>
        <p:nvGrpSpPr>
          <p:cNvPr id="55304" name="Group 8">
            <a:extLst>
              <a:ext uri="{FF2B5EF4-FFF2-40B4-BE49-F238E27FC236}">
                <a16:creationId xmlns:a16="http://schemas.microsoft.com/office/drawing/2014/main" id="{14256E44-823A-59F9-0284-BF978161875B}"/>
              </a:ext>
            </a:extLst>
          </p:cNvPr>
          <p:cNvGrpSpPr>
            <a:grpSpLocks/>
          </p:cNvGrpSpPr>
          <p:nvPr/>
        </p:nvGrpSpPr>
        <p:grpSpPr bwMode="auto">
          <a:xfrm>
            <a:off x="3960018" y="1987455"/>
            <a:ext cx="4050507" cy="756047"/>
            <a:chOff x="2734" y="1110"/>
            <a:chExt cx="3402" cy="635"/>
          </a:xfrm>
        </p:grpSpPr>
        <p:sp>
          <p:nvSpPr>
            <p:cNvPr id="55300" name="Rectangle 4">
              <a:extLst>
                <a:ext uri="{FF2B5EF4-FFF2-40B4-BE49-F238E27FC236}">
                  <a16:creationId xmlns:a16="http://schemas.microsoft.com/office/drawing/2014/main" id="{79EFCD70-5F27-8477-1CCD-6DE4E72DEF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4" y="1392"/>
              <a:ext cx="2242" cy="353"/>
            </a:xfrm>
            <a:prstGeom prst="rect">
              <a:avLst/>
            </a:prstGeom>
            <a:solidFill>
              <a:srgbClr val="CCFF33">
                <a:alpha val="39999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01" name="Text Box 5">
              <a:extLst>
                <a:ext uri="{FF2B5EF4-FFF2-40B4-BE49-F238E27FC236}">
                  <a16:creationId xmlns:a16="http://schemas.microsoft.com/office/drawing/2014/main" id="{C297413C-23C8-F03B-7529-2775F76FC8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2" y="1110"/>
              <a:ext cx="2944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hlink"/>
                  </a:solidFill>
                </a:rPr>
                <a:t>Distance to nearest multiple of p</a:t>
              </a:r>
            </a:p>
          </p:txBody>
        </p:sp>
      </p:grpSp>
      <p:sp>
        <p:nvSpPr>
          <p:cNvPr id="55303" name="Rectangle 7">
            <a:extLst>
              <a:ext uri="{FF2B5EF4-FFF2-40B4-BE49-F238E27FC236}">
                <a16:creationId xmlns:a16="http://schemas.microsoft.com/office/drawing/2014/main" id="{4D1A0080-CB38-C2E5-1DFB-2EA2A4DCC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221288"/>
            <a:ext cx="3886200" cy="369094"/>
          </a:xfrm>
          <a:prstGeom prst="rect">
            <a:avLst/>
          </a:prstGeom>
          <a:solidFill>
            <a:srgbClr val="CCFF33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4B56D2-C7CE-B38E-CC88-DB29E2827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EAEC-5119-3448-A2E0-12A2CED95A32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2DA60746-541A-965C-4295-0263D52FB4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How homomorphic is this?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323" name="Rectangle 3">
                <a:extLst>
                  <a:ext uri="{FF2B5EF4-FFF2-40B4-BE49-F238E27FC236}">
                    <a16:creationId xmlns:a16="http://schemas.microsoft.com/office/drawing/2014/main" id="{37F94033-B7F0-3296-397B-2EEA2AE08D47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Can keep adding and multiplying until the “noise term” grows larger than q/2</a:t>
                </a:r>
              </a:p>
              <a:p>
                <a:pPr lvl="1"/>
                <a:r>
                  <a:rPr lang="en-US" altLang="en-US" dirty="0"/>
                  <a:t>Noise doubles on addition, squares on multiplication</a:t>
                </a:r>
              </a:p>
              <a:p>
                <a:endParaRPr lang="ar-SA" altLang="en-US" dirty="0"/>
              </a:p>
              <a:p>
                <a:endParaRPr lang="en-US" altLang="en-US" dirty="0"/>
              </a:p>
              <a:p>
                <a:endParaRPr lang="en-US" altLang="en-US" dirty="0"/>
              </a:p>
              <a:p>
                <a:endParaRPr lang="en-US" altLang="en-US" dirty="0"/>
              </a:p>
              <a:p>
                <a:endParaRPr lang="en-US" altLang="en-US" dirty="0"/>
              </a:p>
              <a:p>
                <a:r>
                  <a:rPr lang="en-US" altLang="en-US" dirty="0"/>
                  <a:t>We choose r ~ 2</a:t>
                </a:r>
                <a:r>
                  <a:rPr lang="en-US" altLang="en-US" baseline="30000" dirty="0"/>
                  <a:t>n</a:t>
                </a:r>
                <a:r>
                  <a:rPr lang="en-US" altLang="en-US" dirty="0"/>
                  <a:t>, p ~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altLang="en-US" i="1" baseline="3000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 baseline="30000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en-US" i="1" baseline="300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baseline="30000" dirty="0"/>
                  <a:t>    </a:t>
                </a:r>
                <a:r>
                  <a:rPr lang="en-US" altLang="en-US" dirty="0"/>
                  <a:t>(and q ~ 2</a:t>
                </a:r>
                <a:r>
                  <a:rPr lang="en-US" altLang="en-US" baseline="30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 baseline="3000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 baseline="30000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en-US" b="0" i="1" baseline="3000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altLang="en-US" baseline="30000" dirty="0"/>
                  <a:t> </a:t>
                </a:r>
                <a:r>
                  <a:rPr lang="en-US" altLang="en-US" dirty="0"/>
                  <a:t>)</a:t>
                </a:r>
              </a:p>
              <a:p>
                <a:pPr lvl="1"/>
                <a:r>
                  <a:rPr lang="en-US" altLang="en-US" dirty="0"/>
                  <a:t>Can compute polynomials of degree ~n before the noise grows too large</a:t>
                </a:r>
              </a:p>
            </p:txBody>
          </p:sp>
        </mc:Choice>
        <mc:Fallback xmlns="">
          <p:sp>
            <p:nvSpPr>
              <p:cNvPr id="56323" name="Rectangle 3">
                <a:extLst>
                  <a:ext uri="{FF2B5EF4-FFF2-40B4-BE49-F238E27FC236}">
                    <a16:creationId xmlns:a16="http://schemas.microsoft.com/office/drawing/2014/main" id="{37F94033-B7F0-3296-397B-2EEA2AE08D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900" t="-1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https://substackcdn.com/image/fetch/w_1456,c_limit,f_auto,q_auto:good,fl_progressive:steep/https%3A%2F%2Fbucketeer-e05bbc84-baa3-437e-9518-adb32be77984.s3.amazonaws.com%2Fpublic%2Fimages%2Fa0ba73a3-ddf5-4eb3-85e0-ae06b58d1e44_310x198.png">
            <a:extLst>
              <a:ext uri="{FF2B5EF4-FFF2-40B4-BE49-F238E27FC236}">
                <a16:creationId xmlns:a16="http://schemas.microsoft.com/office/drawing/2014/main" id="{DA3646BF-F24F-4C28-9354-747B7A53C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719" y="2468023"/>
            <a:ext cx="2214563" cy="141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5BC8FB-A533-5A57-3019-935E0F491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EAEC-5119-3448-A2E0-12A2CED95A32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4D06D563-85B2-00AF-573B-C959AFE81B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550" dirty="0"/>
              <a:t>Homomorphic Public-Key Encryption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347" name="Rectangle 3">
                <a:extLst>
                  <a:ext uri="{FF2B5EF4-FFF2-40B4-BE49-F238E27FC236}">
                    <a16:creationId xmlns:a16="http://schemas.microsoft.com/office/drawing/2014/main" id="{7476A56D-BA37-1CD3-7242-2E023F630697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Secret key is an odd p as before</a:t>
                </a:r>
              </a:p>
              <a:p>
                <a:r>
                  <a:rPr lang="en-US" altLang="en-US" dirty="0"/>
                  <a:t>Public key is many “encryptions of 0”</a:t>
                </a:r>
              </a:p>
              <a:p>
                <a:pPr lvl="1"/>
                <a:r>
                  <a:rPr lang="en-US" altLang="en-US" dirty="0"/>
                  <a:t>x</a:t>
                </a:r>
                <a:r>
                  <a:rPr lang="en-US" altLang="en-US" baseline="-25000" dirty="0"/>
                  <a:t>i</a:t>
                </a:r>
                <a:r>
                  <a:rPr lang="en-US" altLang="en-US" dirty="0"/>
                  <a:t> = </a:t>
                </a:r>
                <a:r>
                  <a:rPr lang="en-US" altLang="en-US" dirty="0" err="1"/>
                  <a:t>q</a:t>
                </a:r>
                <a:r>
                  <a:rPr lang="en-US" altLang="en-US" baseline="-25000" dirty="0" err="1"/>
                  <a:t>i</a:t>
                </a:r>
                <a:r>
                  <a:rPr lang="en-US" altLang="en-US" dirty="0" err="1"/>
                  <a:t>p</a:t>
                </a:r>
                <a:r>
                  <a:rPr lang="en-US" altLang="en-US" dirty="0"/>
                  <a:t> + 2r</a:t>
                </a:r>
                <a:r>
                  <a:rPr lang="en-US" altLang="en-US" baseline="-25000" dirty="0"/>
                  <a:t>i</a:t>
                </a:r>
              </a:p>
              <a:p>
                <a:r>
                  <a:rPr lang="en-US" altLang="en-US" dirty="0" err="1">
                    <a:solidFill>
                      <a:srgbClr val="0000FF"/>
                    </a:solidFill>
                  </a:rPr>
                  <a:t>Enc</a:t>
                </a:r>
                <a:r>
                  <a:rPr lang="en-US" altLang="en-US" baseline="-25000" dirty="0" err="1"/>
                  <a:t>pk</a:t>
                </a:r>
                <a:r>
                  <a:rPr lang="en-US" altLang="en-US" dirty="0"/>
                  <a:t>(m): Choose a random subset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⊆</m:t>
                    </m:r>
                    <m:d>
                      <m:dPr>
                        <m:begChr m:val="{"/>
                        <m:endChr m:val="}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1,2,…,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altLang="en-US" dirty="0"/>
                  <a:t> and a random integer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and output </a:t>
                </a:r>
                <a:br>
                  <a:rPr lang="en-US" altLang="en-US" dirty="0"/>
                </a:b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endParaRPr lang="en-US" altLang="en-US" dirty="0"/>
              </a:p>
              <a:p>
                <a:r>
                  <a:rPr lang="en-US" altLang="en-US" dirty="0" err="1">
                    <a:solidFill>
                      <a:srgbClr val="0000FF"/>
                    </a:solidFill>
                  </a:rPr>
                  <a:t>Dec</a:t>
                </a:r>
                <a:r>
                  <a:rPr lang="en-US" altLang="en-US" baseline="-25000" dirty="0" err="1"/>
                  <a:t>sk</a:t>
                </a:r>
                <a:r>
                  <a:rPr lang="en-US" altLang="en-US" dirty="0"/>
                  <a:t>(c) = (c mod p) mod 2</a:t>
                </a:r>
              </a:p>
              <a:p>
                <a:r>
                  <a:rPr lang="en-US" altLang="en-US" dirty="0">
                    <a:solidFill>
                      <a:srgbClr val="0000FF"/>
                    </a:solidFill>
                  </a:rPr>
                  <a:t>Eval</a:t>
                </a:r>
                <a:r>
                  <a:rPr lang="en-US" altLang="en-US" dirty="0"/>
                  <a:t> as before</a:t>
                </a:r>
              </a:p>
            </p:txBody>
          </p:sp>
        </mc:Choice>
        <mc:Fallback xmlns="">
          <p:sp>
            <p:nvSpPr>
              <p:cNvPr id="57347" name="Rectangle 3">
                <a:extLst>
                  <a:ext uri="{FF2B5EF4-FFF2-40B4-BE49-F238E27FC236}">
                    <a16:creationId xmlns:a16="http://schemas.microsoft.com/office/drawing/2014/main" id="{7476A56D-BA37-1CD3-7242-2E023F6306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937" t="-1946" b="-4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348" name="Text Box 4">
            <a:extLst>
              <a:ext uri="{FF2B5EF4-FFF2-40B4-BE49-F238E27FC236}">
                <a16:creationId xmlns:a16="http://schemas.microsoft.com/office/drawing/2014/main" id="{13F799A2-7FE5-70C6-8861-CD7513CAF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057400"/>
            <a:ext cx="4136231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950" dirty="0">
                <a:solidFill>
                  <a:schemeClr val="hlink"/>
                </a:solidFill>
              </a:rPr>
              <a:t>[       </a:t>
            </a:r>
            <a:r>
              <a:rPr lang="en-US" altLang="en-US" sz="1950" baseline="-25000" dirty="0">
                <a:solidFill>
                  <a:schemeClr val="hlink"/>
                </a:solidFill>
              </a:rPr>
              <a:t> </a:t>
            </a:r>
            <a:r>
              <a:rPr lang="en-US" altLang="en-US" sz="1950" dirty="0">
                <a:solidFill>
                  <a:schemeClr val="hlink"/>
                </a:solidFill>
              </a:rPr>
              <a:t>     ]</a:t>
            </a:r>
            <a:r>
              <a:rPr lang="en-US" altLang="en-US" sz="1950" baseline="-25000" dirty="0">
                <a:solidFill>
                  <a:schemeClr val="hlink"/>
                </a:solidFill>
              </a:rPr>
              <a:t>x0</a:t>
            </a:r>
            <a:r>
              <a:rPr lang="en-US" altLang="en-US" sz="1950" dirty="0">
                <a:solidFill>
                  <a:schemeClr val="hlink"/>
                </a:solidFill>
              </a:rPr>
              <a:t> for i=1,2,…,n</a:t>
            </a:r>
            <a:endParaRPr lang="en-US" altLang="en-US" sz="1950" baseline="-25000" dirty="0">
              <a:solidFill>
                <a:schemeClr val="hlink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FB2736-1D4A-B213-DB5B-F2DB97A77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EAEC-5119-3448-A2E0-12A2CED95A32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6135A-5E91-D39A-ADCC-819A5B8EB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Bootstrapping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456FDD-95B7-88EA-EB4F-2443A508B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735" y="1368028"/>
            <a:ext cx="7132192" cy="455639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BCE49-0F5B-3BBA-7A8C-D1DFAE73B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EAEC-5119-3448-A2E0-12A2CED95A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540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CC87C-A7E4-EC62-D4C5-A5E83FAC8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Speeding Up Bootstrapping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47DD7EA-7B0C-DACE-05C5-EE71F83FD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831" y="1368028"/>
            <a:ext cx="5829300" cy="13625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190AC9-E430-60A7-764D-EAB7CF411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281" y="2694338"/>
            <a:ext cx="5054369" cy="10940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D11D8CD-7C05-131E-ABEC-659D5F50F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8175" y="3788424"/>
            <a:ext cx="4896612" cy="1525309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DB0754B-7699-6891-2C27-19761C57A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EAEC-5119-3448-A2E0-12A2CED95A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94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D307C-2488-B215-1D61-49D2BF348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FHE Application Space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A7506F6-9FA9-4C2C-3D97-98BA3877543B}"/>
              </a:ext>
            </a:extLst>
          </p:cNvPr>
          <p:cNvGrpSpPr/>
          <p:nvPr/>
        </p:nvGrpSpPr>
        <p:grpSpPr>
          <a:xfrm>
            <a:off x="1245358" y="1368028"/>
            <a:ext cx="6878472" cy="4073858"/>
            <a:chOff x="450376" y="1078173"/>
            <a:chExt cx="9171296" cy="543181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FA48D47-6004-8655-78FB-746971277895}"/>
                </a:ext>
              </a:extLst>
            </p:cNvPr>
            <p:cNvSpPr/>
            <p:nvPr/>
          </p:nvSpPr>
          <p:spPr>
            <a:xfrm>
              <a:off x="450376" y="1078173"/>
              <a:ext cx="4585648" cy="271590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1075CD-30BC-E617-68DE-2A03369E0137}"/>
                </a:ext>
              </a:extLst>
            </p:cNvPr>
            <p:cNvSpPr/>
            <p:nvPr/>
          </p:nvSpPr>
          <p:spPr>
            <a:xfrm>
              <a:off x="450376" y="3794078"/>
              <a:ext cx="4585648" cy="271590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C198FA6-EA7E-C8FB-F1D9-88E2E73FA5E7}"/>
                </a:ext>
              </a:extLst>
            </p:cNvPr>
            <p:cNvSpPr/>
            <p:nvPr/>
          </p:nvSpPr>
          <p:spPr>
            <a:xfrm>
              <a:off x="5036024" y="1078173"/>
              <a:ext cx="4585648" cy="271590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F5775A-EF03-5094-29A6-997A33A59465}"/>
                </a:ext>
              </a:extLst>
            </p:cNvPr>
            <p:cNvSpPr/>
            <p:nvPr/>
          </p:nvSpPr>
          <p:spPr>
            <a:xfrm>
              <a:off x="5036024" y="3794078"/>
              <a:ext cx="4585648" cy="2715905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267B63B7-9D06-BB2A-1E31-D7B01DBAEA2C}"/>
              </a:ext>
            </a:extLst>
          </p:cNvPr>
          <p:cNvSpPr>
            <a:spLocks noChangeAspect="1"/>
          </p:cNvSpPr>
          <p:nvPr/>
        </p:nvSpPr>
        <p:spPr>
          <a:xfrm>
            <a:off x="3827344" y="2616004"/>
            <a:ext cx="1714500" cy="1577905"/>
          </a:xfrm>
          <a:prstGeom prst="ellipse">
            <a:avLst/>
          </a:prstGeom>
          <a:gradFill flip="none" rotWithShape="1">
            <a:gsLst>
              <a:gs pos="70000">
                <a:schemeClr val="bg1"/>
              </a:gs>
              <a:gs pos="0">
                <a:schemeClr val="bg1"/>
              </a:gs>
              <a:gs pos="3100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Encrypted Analysis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B23BC0F-F7FD-55A9-3FCE-D68B167DE18E}"/>
              </a:ext>
            </a:extLst>
          </p:cNvPr>
          <p:cNvSpPr/>
          <p:nvPr/>
        </p:nvSpPr>
        <p:spPr>
          <a:xfrm>
            <a:off x="1627495" y="1530789"/>
            <a:ext cx="1852684" cy="61926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Secure machine learning 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0C27CBC-BE2B-3763-3BB9-8E0A5E93568C}"/>
              </a:ext>
            </a:extLst>
          </p:cNvPr>
          <p:cNvSpPr/>
          <p:nvPr/>
        </p:nvSpPr>
        <p:spPr>
          <a:xfrm>
            <a:off x="1640717" y="2474932"/>
            <a:ext cx="1852684" cy="61926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Secure document sharing 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F568C41-CC82-AEE7-6E7F-E16ADC1E5903}"/>
              </a:ext>
            </a:extLst>
          </p:cNvPr>
          <p:cNvSpPr/>
          <p:nvPr/>
        </p:nvSpPr>
        <p:spPr>
          <a:xfrm>
            <a:off x="1476944" y="4268604"/>
            <a:ext cx="1852684" cy="30963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Encrypted query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A3075F6-EB9C-F2A3-18C5-8E7A7C51EEFA}"/>
              </a:ext>
            </a:extLst>
          </p:cNvPr>
          <p:cNvSpPr/>
          <p:nvPr/>
        </p:nvSpPr>
        <p:spPr>
          <a:xfrm>
            <a:off x="4916180" y="4328040"/>
            <a:ext cx="1852684" cy="63419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Autonomous recon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8DCDD33-3EC7-18A3-E873-49863F87C726}"/>
              </a:ext>
            </a:extLst>
          </p:cNvPr>
          <p:cNvSpPr/>
          <p:nvPr/>
        </p:nvSpPr>
        <p:spPr>
          <a:xfrm>
            <a:off x="5970468" y="3494034"/>
            <a:ext cx="1852684" cy="6341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Autonomous interdiction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CCD3C7A-0A17-2917-8C87-192846817566}"/>
              </a:ext>
            </a:extLst>
          </p:cNvPr>
          <p:cNvSpPr/>
          <p:nvPr/>
        </p:nvSpPr>
        <p:spPr>
          <a:xfrm>
            <a:off x="4888458" y="1494367"/>
            <a:ext cx="1852684" cy="61926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Cross-domain Networking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9C71DB4-D361-525F-7370-E3CE2A479D79}"/>
              </a:ext>
            </a:extLst>
          </p:cNvPr>
          <p:cNvSpPr/>
          <p:nvPr/>
        </p:nvSpPr>
        <p:spPr>
          <a:xfrm>
            <a:off x="6098843" y="2449662"/>
            <a:ext cx="1852684" cy="61926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Secure mission tasking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13E480-BBEF-52A8-98AE-CFA3AAA1430A}"/>
              </a:ext>
            </a:extLst>
          </p:cNvPr>
          <p:cNvSpPr txBox="1"/>
          <p:nvPr/>
        </p:nvSpPr>
        <p:spPr>
          <a:xfrm rot="16200000">
            <a:off x="-1375912" y="3220290"/>
            <a:ext cx="3482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data owners or users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DF1FB3-BCD1-DD45-A630-2C2A400A91AA}"/>
              </a:ext>
            </a:extLst>
          </p:cNvPr>
          <p:cNvSpPr txBox="1"/>
          <p:nvPr/>
        </p:nvSpPr>
        <p:spPr>
          <a:xfrm rot="16200000">
            <a:off x="518149" y="2097328"/>
            <a:ext cx="726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964E87-9D7C-31F2-1C72-60BA9C7ABC0A}"/>
              </a:ext>
            </a:extLst>
          </p:cNvPr>
          <p:cNvSpPr txBox="1"/>
          <p:nvPr/>
        </p:nvSpPr>
        <p:spPr>
          <a:xfrm rot="16200000">
            <a:off x="780072" y="414991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741EEF-F348-B2EA-BD77-45F9AF8810F7}"/>
              </a:ext>
            </a:extLst>
          </p:cNvPr>
          <p:cNvSpPr txBox="1"/>
          <p:nvPr/>
        </p:nvSpPr>
        <p:spPr>
          <a:xfrm>
            <a:off x="2220697" y="5489972"/>
            <a:ext cx="1389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Cooperative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03081F-5EEE-4E39-B675-9CAD702BA960}"/>
              </a:ext>
            </a:extLst>
          </p:cNvPr>
          <p:cNvSpPr txBox="1"/>
          <p:nvPr/>
        </p:nvSpPr>
        <p:spPr>
          <a:xfrm>
            <a:off x="5627997" y="5489972"/>
            <a:ext cx="130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Adversarial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1E6FA8-CC9E-BD00-7BAB-66B723116DAA}"/>
              </a:ext>
            </a:extLst>
          </p:cNvPr>
          <p:cNvSpPr txBox="1"/>
          <p:nvPr/>
        </p:nvSpPr>
        <p:spPr>
          <a:xfrm>
            <a:off x="7259927" y="5777914"/>
            <a:ext cx="21210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*Source: DARPA DPRIVE presentation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81DFB65-57F5-977B-B028-329C9B56D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EAEC-5119-3448-A2E0-12A2CED95A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589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280AE2-1FC0-38E9-9D35-13D31B8A7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393" y="1219200"/>
            <a:ext cx="4861214" cy="12227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0185DC-3F5A-63F5-9BB1-8F419152487A}"/>
              </a:ext>
            </a:extLst>
          </p:cNvPr>
          <p:cNvSpPr txBox="1"/>
          <p:nvPr/>
        </p:nvSpPr>
        <p:spPr>
          <a:xfrm>
            <a:off x="609600" y="2982568"/>
            <a:ext cx="71691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“The ability to compute on encrypted data is fast becoming a practical reality. We discuss the progress in four technologies which enable this:”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092FF7-A9B7-38AE-EB47-5CF65030B42F}"/>
              </a:ext>
            </a:extLst>
          </p:cNvPr>
          <p:cNvSpPr txBox="1"/>
          <p:nvPr/>
        </p:nvSpPr>
        <p:spPr>
          <a:xfrm>
            <a:off x="1600200" y="5644076"/>
            <a:ext cx="6534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www.computer.org</a:t>
            </a:r>
            <a:r>
              <a:rPr lang="en-US" dirty="0"/>
              <a:t>/</a:t>
            </a:r>
            <a:r>
              <a:rPr lang="en-US" dirty="0" err="1"/>
              <a:t>csdl</a:t>
            </a:r>
            <a:r>
              <a:rPr lang="en-US" dirty="0"/>
              <a:t>/magazine/</a:t>
            </a:r>
            <a:r>
              <a:rPr lang="en-US" dirty="0" err="1"/>
              <a:t>sp</a:t>
            </a:r>
            <a:r>
              <a:rPr lang="en-US" dirty="0"/>
              <a:t>/2023/04/10194492/1P4BEqduz9C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E8768FD-5A45-E3C9-8656-BC2F769AE8F5}"/>
              </a:ext>
            </a:extLst>
          </p:cNvPr>
          <p:cNvSpPr/>
          <p:nvPr/>
        </p:nvSpPr>
        <p:spPr>
          <a:xfrm>
            <a:off x="779584" y="4261820"/>
            <a:ext cx="1682751" cy="1060449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Trusted Execution Environments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2E9F998-9FA6-5879-A5BE-50F60CC6C42E}"/>
              </a:ext>
            </a:extLst>
          </p:cNvPr>
          <p:cNvSpPr/>
          <p:nvPr/>
        </p:nvSpPr>
        <p:spPr>
          <a:xfrm>
            <a:off x="2692400" y="4273551"/>
            <a:ext cx="1682751" cy="1060448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Fully Homomorphic Encryption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B04C58A-1202-AC1D-DE0D-7BE96A1A3233}"/>
              </a:ext>
            </a:extLst>
          </p:cNvPr>
          <p:cNvSpPr/>
          <p:nvPr/>
        </p:nvSpPr>
        <p:spPr>
          <a:xfrm>
            <a:off x="4605216" y="4273548"/>
            <a:ext cx="1682751" cy="1060448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Multi-Party Computation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F9B9FF1-79FE-4829-9E7B-E332E272892C}"/>
              </a:ext>
            </a:extLst>
          </p:cNvPr>
          <p:cNvSpPr/>
          <p:nvPr/>
        </p:nvSpPr>
        <p:spPr>
          <a:xfrm>
            <a:off x="6518032" y="4273548"/>
            <a:ext cx="1682751" cy="1060448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Zero-Knowledge Proofs.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6AB6EF-9826-2F5F-3224-15F36EAC7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EAEC-5119-3448-A2E0-12A2CED95A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43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8936" y="1885949"/>
            <a:ext cx="5556434" cy="3600452"/>
          </a:xfrm>
        </p:spPr>
        <p:txBody>
          <a:bodyPr>
            <a:normAutofit fontScale="62500" lnSpcReduction="20000"/>
          </a:bodyPr>
          <a:lstStyle/>
          <a:p>
            <a:pPr marL="266700" marR="3810" indent="-257651">
              <a:spcBef>
                <a:spcPts val="79"/>
              </a:spcBef>
              <a:tabLst>
                <a:tab pos="266700" algn="l"/>
                <a:tab pos="267176" algn="l"/>
              </a:tabLst>
            </a:pPr>
            <a:r>
              <a:rPr lang="en-US" altLang="en-US" dirty="0"/>
              <a:t>Secure multiparty computation is a subfield of encrypted computation</a:t>
            </a:r>
          </a:p>
          <a:p>
            <a:pPr marL="9049" marR="3810" indent="0">
              <a:spcBef>
                <a:spcPts val="79"/>
              </a:spcBef>
              <a:buNone/>
              <a:tabLst>
                <a:tab pos="266700" algn="l"/>
                <a:tab pos="267176" algn="l"/>
              </a:tabLst>
            </a:pPr>
            <a:endParaRPr lang="en-US" altLang="en-US" dirty="0"/>
          </a:p>
          <a:p>
            <a:pPr marL="266700" marR="3810" indent="-257651">
              <a:spcBef>
                <a:spcPts val="79"/>
              </a:spcBef>
              <a:tabLst>
                <a:tab pos="266700" algn="l"/>
                <a:tab pos="267176" algn="l"/>
              </a:tabLst>
            </a:pPr>
            <a:r>
              <a:rPr lang="en-US" altLang="en-US" dirty="0"/>
              <a:t>MPC involves multiple parties (who do not trust each other) agreeing to compute a </a:t>
            </a:r>
            <a:r>
              <a:rPr lang="en-US" spc="-8" dirty="0">
                <a:cs typeface="Calibri"/>
              </a:rPr>
              <a:t>joint </a:t>
            </a:r>
            <a:r>
              <a:rPr lang="en-US" spc="-4" dirty="0">
                <a:cs typeface="Calibri"/>
              </a:rPr>
              <a:t>function of their inputs </a:t>
            </a:r>
            <a:r>
              <a:rPr lang="en-US" altLang="en-US" dirty="0"/>
              <a:t>but only if the data is encrypted</a:t>
            </a:r>
          </a:p>
          <a:p>
            <a:pPr marL="9049" marR="3810" indent="0">
              <a:spcBef>
                <a:spcPts val="79"/>
              </a:spcBef>
              <a:buNone/>
              <a:tabLst>
                <a:tab pos="266700" algn="l"/>
                <a:tab pos="267176" algn="l"/>
              </a:tabLst>
            </a:pPr>
            <a:endParaRPr lang="en-US" dirty="0">
              <a:cs typeface="Calibri"/>
            </a:endParaRPr>
          </a:p>
          <a:p>
            <a:pPr marL="266700" marR="204788" indent="-257651">
              <a:spcBef>
                <a:spcPts val="578"/>
              </a:spcBef>
              <a:tabLst>
                <a:tab pos="266700" algn="l"/>
                <a:tab pos="267176" algn="l"/>
              </a:tabLst>
            </a:pPr>
            <a:r>
              <a:rPr lang="en-US" spc="-11" dirty="0">
                <a:cs typeface="Calibri"/>
              </a:rPr>
              <a:t>Parties </a:t>
            </a:r>
            <a:r>
              <a:rPr lang="en-US" spc="-4" dirty="0">
                <a:cs typeface="Calibri"/>
              </a:rPr>
              <a:t>wish </a:t>
            </a:r>
            <a:r>
              <a:rPr lang="en-US" spc="-15" dirty="0">
                <a:cs typeface="Calibri"/>
              </a:rPr>
              <a:t>to </a:t>
            </a:r>
            <a:r>
              <a:rPr lang="en-US" spc="-8" dirty="0">
                <a:cs typeface="Calibri"/>
              </a:rPr>
              <a:t>preserve </a:t>
            </a:r>
          </a:p>
          <a:p>
            <a:pPr marL="459581" marR="204788" lvl="1" indent="-257651">
              <a:spcBef>
                <a:spcPts val="578"/>
              </a:spcBef>
              <a:tabLst>
                <a:tab pos="266700" algn="l"/>
                <a:tab pos="267176" algn="l"/>
              </a:tabLst>
            </a:pPr>
            <a:r>
              <a:rPr lang="en-US" b="1" spc="-8" dirty="0">
                <a:cs typeface="Calibri"/>
              </a:rPr>
              <a:t>Privacy: </a:t>
            </a:r>
            <a:r>
              <a:rPr lang="en-US" spc="-8" dirty="0">
                <a:cs typeface="Calibri"/>
              </a:rPr>
              <a:t>parties can’t observe each others’ inputs</a:t>
            </a:r>
          </a:p>
          <a:p>
            <a:pPr marL="459581" marR="204788" lvl="1" indent="-257651">
              <a:spcBef>
                <a:spcPts val="578"/>
              </a:spcBef>
              <a:tabLst>
                <a:tab pos="266700" algn="l"/>
                <a:tab pos="267176" algn="l"/>
              </a:tabLst>
            </a:pPr>
            <a:r>
              <a:rPr lang="en-US" b="1" spc="-8" dirty="0">
                <a:cs typeface="Calibri"/>
              </a:rPr>
              <a:t>Correctness: </a:t>
            </a:r>
            <a:r>
              <a:rPr lang="en-US" spc="-8" dirty="0">
                <a:cs typeface="Calibri"/>
              </a:rPr>
              <a:t>the function gives the correct results </a:t>
            </a:r>
          </a:p>
          <a:p>
            <a:pPr marL="266700" marR="204788" indent="-257651">
              <a:spcBef>
                <a:spcPts val="578"/>
              </a:spcBef>
              <a:tabLst>
                <a:tab pos="266700" algn="l"/>
                <a:tab pos="267176" algn="l"/>
              </a:tabLst>
            </a:pPr>
            <a:endParaRPr lang="en-US" dirty="0">
              <a:cs typeface="Calibri"/>
            </a:endParaRPr>
          </a:p>
          <a:p>
            <a:pPr marL="266700" marR="164306" indent="-257651">
              <a:spcBef>
                <a:spcPts val="578"/>
              </a:spcBef>
              <a:tabLst>
                <a:tab pos="266700" algn="l"/>
                <a:tab pos="267176" algn="l"/>
              </a:tabLst>
            </a:pPr>
            <a:r>
              <a:rPr lang="en-US" spc="-4" dirty="0">
                <a:cs typeface="Calibri"/>
              </a:rPr>
              <a:t>Privacy </a:t>
            </a:r>
            <a:r>
              <a:rPr lang="en-US" spc="-11" dirty="0">
                <a:cs typeface="Calibri"/>
              </a:rPr>
              <a:t>must </a:t>
            </a:r>
            <a:r>
              <a:rPr lang="en-US" spc="-4" dirty="0">
                <a:cs typeface="Calibri"/>
              </a:rPr>
              <a:t>be </a:t>
            </a:r>
            <a:r>
              <a:rPr lang="en-US" spc="-8" dirty="0">
                <a:cs typeface="Calibri"/>
              </a:rPr>
              <a:t>preserved </a:t>
            </a:r>
            <a:r>
              <a:rPr lang="en-US" dirty="0">
                <a:cs typeface="Calibri"/>
              </a:rPr>
              <a:t>in the </a:t>
            </a:r>
            <a:r>
              <a:rPr lang="en-US" spc="-11" dirty="0">
                <a:cs typeface="Calibri"/>
              </a:rPr>
              <a:t>face </a:t>
            </a:r>
            <a:r>
              <a:rPr lang="en-US" spc="-4" dirty="0">
                <a:cs typeface="Calibri"/>
              </a:rPr>
              <a:t>of  </a:t>
            </a:r>
            <a:r>
              <a:rPr lang="en-US" spc="-8" dirty="0">
                <a:cs typeface="Calibri"/>
              </a:rPr>
              <a:t>adversarial behavior by </a:t>
            </a:r>
          </a:p>
          <a:p>
            <a:pPr marL="566738" marR="164306" lvl="1" indent="-257651">
              <a:spcBef>
                <a:spcPts val="578"/>
              </a:spcBef>
              <a:tabLst>
                <a:tab pos="266700" algn="l"/>
                <a:tab pos="267176" algn="l"/>
              </a:tabLst>
            </a:pPr>
            <a:r>
              <a:rPr lang="en-US" spc="-4" dirty="0">
                <a:cs typeface="Calibri"/>
              </a:rPr>
              <a:t>One (or some) </a:t>
            </a:r>
            <a:r>
              <a:rPr lang="en-US" dirty="0">
                <a:cs typeface="Calibri"/>
              </a:rPr>
              <a:t>of </a:t>
            </a:r>
            <a:r>
              <a:rPr lang="en-US" spc="-4" dirty="0">
                <a:cs typeface="Calibri"/>
              </a:rPr>
              <a:t>the participants, or </a:t>
            </a:r>
          </a:p>
          <a:p>
            <a:pPr marL="566738" marR="164306" lvl="1" indent="-257651">
              <a:spcBef>
                <a:spcPts val="578"/>
              </a:spcBef>
              <a:tabLst>
                <a:tab pos="266700" algn="l"/>
                <a:tab pos="267176" algn="l"/>
              </a:tabLst>
            </a:pPr>
            <a:r>
              <a:rPr lang="en-US" dirty="0">
                <a:cs typeface="Calibri"/>
              </a:rPr>
              <a:t>An </a:t>
            </a:r>
            <a:r>
              <a:rPr lang="en-US" spc="-8" dirty="0">
                <a:cs typeface="Calibri"/>
              </a:rPr>
              <a:t>external</a:t>
            </a:r>
            <a:r>
              <a:rPr lang="en-US" spc="15" dirty="0">
                <a:cs typeface="Calibri"/>
              </a:rPr>
              <a:t> </a:t>
            </a:r>
            <a:r>
              <a:rPr lang="en-US" spc="-34" dirty="0">
                <a:cs typeface="Calibri"/>
              </a:rPr>
              <a:t>party</a:t>
            </a:r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79C-BA14-6743-B5E9-E73E392A7250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Secure Multiparty Computation (SMPC or MPC)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2CBB0B-B2B8-407F-ABBF-3692968A4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184" y="2128390"/>
            <a:ext cx="2616171" cy="260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506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>
            <a:extLst>
              <a:ext uri="{FF2B5EF4-FFF2-40B4-BE49-F238E27FC236}">
                <a16:creationId xmlns:a16="http://schemas.microsoft.com/office/drawing/2014/main" id="{EB5DBEAA-305C-C94E-A134-F86B0BD8B2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764465"/>
            <a:ext cx="5764040" cy="3600451"/>
          </a:xfrm>
        </p:spPr>
        <p:txBody>
          <a:bodyPr/>
          <a:lstStyle/>
          <a:p>
            <a:r>
              <a:rPr lang="en-US" altLang="en-US" dirty="0"/>
              <a:t>In all cases, we are dealing with distributed multi-party protocols</a:t>
            </a:r>
          </a:p>
          <a:p>
            <a:pPr lvl="1"/>
            <a:r>
              <a:rPr lang="en-US" altLang="en-US" dirty="0"/>
              <a:t>A protocol describes how parties are supposed to exchange messages on the network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All these tasks can be easily computed by a </a:t>
            </a:r>
            <a:r>
              <a:rPr lang="en-US" altLang="en-US" dirty="0">
                <a:solidFill>
                  <a:srgbClr val="FF0000"/>
                </a:solidFill>
              </a:rPr>
              <a:t>trusted third party</a:t>
            </a:r>
          </a:p>
          <a:p>
            <a:endParaRPr lang="en-US" altLang="en-US" dirty="0">
              <a:solidFill>
                <a:srgbClr val="FF0000"/>
              </a:solidFill>
            </a:endParaRPr>
          </a:p>
          <a:p>
            <a:r>
              <a:rPr lang="en-US" altLang="en-US" dirty="0"/>
              <a:t>The goal of secure multi-party computation is to achieve the same result </a:t>
            </a:r>
            <a:r>
              <a:rPr lang="en-US" altLang="en-US" b="1" dirty="0">
                <a:solidFill>
                  <a:schemeClr val="tx2"/>
                </a:solidFill>
              </a:rPr>
              <a:t>without involving a trusted third party</a:t>
            </a:r>
          </a:p>
          <a:p>
            <a:pPr lvl="1"/>
            <a:endParaRPr lang="en-US" altLang="en-US" dirty="0"/>
          </a:p>
        </p:txBody>
      </p:sp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D4C2A94D-2468-4345-A0E1-935EFF740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7715250" y="5543550"/>
            <a:ext cx="142875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0" fontAlgn="base" hangingPunct="0">
              <a:spcBef>
                <a:spcPct val="50000"/>
              </a:spcBef>
              <a:spcAft>
                <a:spcPct val="0"/>
              </a:spcAft>
              <a:buClrTx/>
              <a:buFontTx/>
              <a:buNone/>
              <a:defRPr sz="9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800" kern="1200">
                <a:solidFill>
                  <a:schemeClr val="bg2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685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800" kern="1200">
                <a:solidFill>
                  <a:schemeClr val="bg2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0287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800" kern="1200">
                <a:solidFill>
                  <a:schemeClr val="bg2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1800" kern="1200">
                <a:solidFill>
                  <a:schemeClr val="bg2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800" kern="1200">
                <a:solidFill>
                  <a:schemeClr val="bg2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800" kern="1200">
                <a:solidFill>
                  <a:schemeClr val="bg2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800" kern="1200">
                <a:solidFill>
                  <a:schemeClr val="bg2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800" kern="1200">
                <a:solidFill>
                  <a:schemeClr val="bg2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en-US" altLang="en-US"/>
              <a:t>slide </a:t>
            </a:r>
            <a:fld id="{857BB665-DE5A-AB45-9EBE-7A6BC3BC5DDA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BB421AB-9685-D74C-AE1C-99EA3F512C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A Couple of Observations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307D74-B795-4FBD-B655-B374A27EA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325" y="1509101"/>
            <a:ext cx="1994103" cy="19827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579657-3E8C-45BB-9033-F54A4989A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830" y="3564690"/>
            <a:ext cx="2345094" cy="1992900"/>
          </a:xfrm>
          <a:prstGeom prst="rect">
            <a:avLst/>
          </a:prstGeom>
        </p:spPr>
      </p:pic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B0867D32-091D-4D0F-886A-3EB76BEA8F11}"/>
              </a:ext>
            </a:extLst>
          </p:cNvPr>
          <p:cNvSpPr/>
          <p:nvPr/>
        </p:nvSpPr>
        <p:spPr>
          <a:xfrm rot="5400000" flipV="1">
            <a:off x="5289172" y="3232855"/>
            <a:ext cx="2427022" cy="663671"/>
          </a:xfrm>
          <a:prstGeom prst="curved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23602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205740" y="1764506"/>
                <a:ext cx="8061960" cy="360045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Yao’s Millionaire Problem is another example of MPC</a:t>
                </a:r>
              </a:p>
              <a:p>
                <a:endParaRPr lang="en-US" dirty="0"/>
              </a:p>
              <a:p>
                <a:r>
                  <a:rPr lang="en-US" dirty="0"/>
                  <a:t>Two millionaires, Alice and Bob want to know which </a:t>
                </a:r>
                <a:br>
                  <a:rPr lang="en-US" dirty="0"/>
                </a:br>
                <a:r>
                  <a:rPr lang="en-US" dirty="0"/>
                  <a:t>of them is richer without revealing their actual wealth</a:t>
                </a:r>
              </a:p>
              <a:p>
                <a:endParaRPr lang="en-US" dirty="0"/>
              </a:p>
              <a:p>
                <a:r>
                  <a:rPr lang="en-US" dirty="0"/>
                  <a:t>This problem is analogous to a more general  problem where there are two numbers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and the goal is to solve the inequality  without revealing the actual values of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will see a solution to Yao’s Millionaire problem using encrypted computing </a:t>
                </a:r>
              </a:p>
            </p:txBody>
          </p:sp>
        </mc:Choice>
        <mc:Fallback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5740" y="1764506"/>
                <a:ext cx="8061960" cy="3600450"/>
              </a:xfrm>
              <a:blipFill>
                <a:blip r:embed="rId2"/>
                <a:stretch>
                  <a:fillRect l="-1102" t="-3860"/>
                </a:stretch>
              </a:blipFill>
            </p:spPr>
            <p:txBody>
              <a:bodyPr/>
              <a:lstStyle/>
              <a:p>
                <a:r>
                  <a:rPr lang="en-S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67700" y="5624517"/>
            <a:ext cx="571500" cy="273844"/>
          </a:xfrm>
        </p:spPr>
        <p:txBody>
          <a:bodyPr/>
          <a:lstStyle/>
          <a:p>
            <a:fld id="{AB8D479C-BA14-6743-B5E9-E73E392A7250}" type="slidenum">
              <a:rPr lang="en-US" altLang="en-US" smtClean="0"/>
              <a:pPr/>
              <a:t>23</a:t>
            </a:fld>
            <a:endParaRPr lang="en-US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1024857"/>
            <a:ext cx="7886700" cy="425597"/>
          </a:xfrm>
        </p:spPr>
        <p:txBody>
          <a:bodyPr vert="horz" wrap="square" lIns="0" tIns="10001" rIns="0" bIns="0" rtlCol="0" anchor="ctr">
            <a:spAutoFit/>
          </a:bodyPr>
          <a:lstStyle/>
          <a:p>
            <a:r>
              <a:rPr lang="en-US" dirty="0"/>
              <a:t>Yao’s Millionaire Problem</a:t>
            </a:r>
          </a:p>
        </p:txBody>
      </p:sp>
      <p:pic>
        <p:nvPicPr>
          <p:cNvPr id="5122" name="Picture 2" descr="Jeff Bezos">
            <a:extLst>
              <a:ext uri="{FF2B5EF4-FFF2-40B4-BE49-F238E27FC236}">
                <a16:creationId xmlns:a16="http://schemas.microsoft.com/office/drawing/2014/main" id="{95BDB810-F1D1-3847-A191-AEA377204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626" y="2232423"/>
            <a:ext cx="1101523" cy="1101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ular Callout 8">
            <a:extLst>
              <a:ext uri="{FF2B5EF4-FFF2-40B4-BE49-F238E27FC236}">
                <a16:creationId xmlns:a16="http://schemas.microsoft.com/office/drawing/2014/main" id="{966ED969-4606-3646-88F2-3056154E83D6}"/>
              </a:ext>
            </a:extLst>
          </p:cNvPr>
          <p:cNvSpPr/>
          <p:nvPr/>
        </p:nvSpPr>
        <p:spPr bwMode="auto">
          <a:xfrm>
            <a:off x="8000383" y="1772237"/>
            <a:ext cx="888009" cy="404527"/>
          </a:xfrm>
          <a:prstGeom prst="wedgeRectCallou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eaLnBrk="1" hangingPunct="1"/>
            <a:r>
              <a:rPr lang="en-US" sz="1350" dirty="0">
                <a:cs typeface="Arial" charset="0"/>
              </a:rPr>
              <a:t>I am rich</a:t>
            </a:r>
          </a:p>
        </p:txBody>
      </p:sp>
      <p:sp>
        <p:nvSpPr>
          <p:cNvPr id="12" name="Rectangular Callout 11">
            <a:extLst>
              <a:ext uri="{FF2B5EF4-FFF2-40B4-BE49-F238E27FC236}">
                <a16:creationId xmlns:a16="http://schemas.microsoft.com/office/drawing/2014/main" id="{D1E4E300-075C-4B43-BEAD-F3B115D8DFE7}"/>
              </a:ext>
            </a:extLst>
          </p:cNvPr>
          <p:cNvSpPr/>
          <p:nvPr/>
        </p:nvSpPr>
        <p:spPr bwMode="auto">
          <a:xfrm>
            <a:off x="6305000" y="1708848"/>
            <a:ext cx="888009" cy="467915"/>
          </a:xfrm>
          <a:prstGeom prst="wedgeRectCallou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eaLnBrk="1" hangingPunct="1"/>
            <a:r>
              <a:rPr lang="en-US" sz="1350" dirty="0">
                <a:cs typeface="Arial" charset="0"/>
              </a:rPr>
              <a:t>I am more </a:t>
            </a:r>
            <a:br>
              <a:rPr lang="en-US" sz="1350" dirty="0">
                <a:cs typeface="Arial" charset="0"/>
              </a:rPr>
            </a:br>
            <a:r>
              <a:rPr lang="en-US" sz="1350" dirty="0">
                <a:cs typeface="Arial" charset="0"/>
              </a:rPr>
              <a:t>rich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BEAD587-847A-679E-0FC8-B417D4097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415" y="2232422"/>
            <a:ext cx="826142" cy="1101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018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4FD83-F101-7F2B-5D8C-3F76FA984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4FE65C-0B6C-2845-80D3-71BAE0608084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8E3602-4B0B-4DEB-AE3D-C17FDA761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case: Private Set Intersection </a:t>
            </a:r>
          </a:p>
        </p:txBody>
      </p:sp>
      <p:pic>
        <p:nvPicPr>
          <p:cNvPr id="11" name="Graphic 10" descr="Call center with solid fill">
            <a:extLst>
              <a:ext uri="{FF2B5EF4-FFF2-40B4-BE49-F238E27FC236}">
                <a16:creationId xmlns:a16="http://schemas.microsoft.com/office/drawing/2014/main" id="{1B1C933C-EF60-2AB5-159B-AD65032C52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630" y="2110977"/>
            <a:ext cx="1485900" cy="1485900"/>
          </a:xfrm>
          <a:prstGeom prst="rect">
            <a:avLst/>
          </a:prstGeom>
        </p:spPr>
      </p:pic>
      <p:pic>
        <p:nvPicPr>
          <p:cNvPr id="12" name="Graphic 11" descr="Call center with solid fill">
            <a:extLst>
              <a:ext uri="{FF2B5EF4-FFF2-40B4-BE49-F238E27FC236}">
                <a16:creationId xmlns:a16="http://schemas.microsoft.com/office/drawing/2014/main" id="{166942FB-BF70-1AE8-0203-EAC8E24761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0" y="2110977"/>
            <a:ext cx="1485900" cy="14859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C8F9C3-5DF2-B957-31FB-337612E27719}"/>
              </a:ext>
            </a:extLst>
          </p:cNvPr>
          <p:cNvSpPr txBox="1"/>
          <p:nvPr/>
        </p:nvSpPr>
        <p:spPr>
          <a:xfrm>
            <a:off x="1451028" y="3639027"/>
            <a:ext cx="112750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Ahmed</a:t>
            </a:r>
            <a:r>
              <a:rPr lang="en-US" dirty="0"/>
              <a:t> </a:t>
            </a:r>
          </a:p>
          <a:p>
            <a:r>
              <a:rPr lang="en-US" dirty="0"/>
              <a:t>Abdullah </a:t>
            </a:r>
          </a:p>
          <a:p>
            <a:r>
              <a:rPr lang="en-US" u="sng" dirty="0"/>
              <a:t>Bader</a:t>
            </a:r>
          </a:p>
          <a:p>
            <a:r>
              <a:rPr lang="en-US" dirty="0"/>
              <a:t>Muhamad</a:t>
            </a:r>
          </a:p>
          <a:p>
            <a:r>
              <a:rPr lang="en-US" dirty="0"/>
              <a:t>Khalid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31BF1B-5D62-C408-A793-0423F4713619}"/>
              </a:ext>
            </a:extLst>
          </p:cNvPr>
          <p:cNvSpPr txBox="1"/>
          <p:nvPr/>
        </p:nvSpPr>
        <p:spPr>
          <a:xfrm>
            <a:off x="6094708" y="3639027"/>
            <a:ext cx="1127502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Ahmed</a:t>
            </a:r>
            <a:r>
              <a:rPr lang="en-US" dirty="0"/>
              <a:t> </a:t>
            </a:r>
          </a:p>
          <a:p>
            <a:r>
              <a:rPr lang="en-US" dirty="0" err="1"/>
              <a:t>Abdulaziz</a:t>
            </a:r>
            <a:r>
              <a:rPr lang="en-US" dirty="0"/>
              <a:t> </a:t>
            </a:r>
          </a:p>
          <a:p>
            <a:r>
              <a:rPr lang="en-US" u="sng" dirty="0"/>
              <a:t>Bader</a:t>
            </a:r>
          </a:p>
          <a:p>
            <a:r>
              <a:rPr lang="en-US" dirty="0"/>
              <a:t>Mahmood</a:t>
            </a:r>
          </a:p>
          <a:p>
            <a:r>
              <a:rPr lang="en-US" dirty="0"/>
              <a:t>Saleh</a:t>
            </a:r>
          </a:p>
        </p:txBody>
      </p:sp>
      <p:pic>
        <p:nvPicPr>
          <p:cNvPr id="15" name="Graphic 14" descr="Lock with solid fill">
            <a:extLst>
              <a:ext uri="{FF2B5EF4-FFF2-40B4-BE49-F238E27FC236}">
                <a16:creationId xmlns:a16="http://schemas.microsoft.com/office/drawing/2014/main" id="{89ACFD47-5889-928D-DE2B-FE239FC49D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80349" y="4009633"/>
            <a:ext cx="396363" cy="396363"/>
          </a:xfrm>
          <a:prstGeom prst="rect">
            <a:avLst/>
          </a:prstGeom>
        </p:spPr>
      </p:pic>
      <p:pic>
        <p:nvPicPr>
          <p:cNvPr id="16" name="Graphic 15" descr="Lock with solid fill">
            <a:extLst>
              <a:ext uri="{FF2B5EF4-FFF2-40B4-BE49-F238E27FC236}">
                <a16:creationId xmlns:a16="http://schemas.microsoft.com/office/drawing/2014/main" id="{2ED2D670-9979-B4B6-0F16-BD033AD95B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24028" y="3994844"/>
            <a:ext cx="396363" cy="396363"/>
          </a:xfrm>
          <a:prstGeom prst="rect">
            <a:avLst/>
          </a:prstGeom>
        </p:spPr>
      </p:pic>
      <p:pic>
        <p:nvPicPr>
          <p:cNvPr id="18" name="Graphic 17" descr="Gears with solid fill">
            <a:extLst>
              <a:ext uri="{FF2B5EF4-FFF2-40B4-BE49-F238E27FC236}">
                <a16:creationId xmlns:a16="http://schemas.microsoft.com/office/drawing/2014/main" id="{DD0C7878-03EF-1F0F-EEF0-CFCF2310FFF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06032" y="3596877"/>
            <a:ext cx="1287719" cy="1287719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AB3E0EC-FC4B-C7A2-A1D7-6C36A81FC35C}"/>
              </a:ext>
            </a:extLst>
          </p:cNvPr>
          <p:cNvCxnSpPr>
            <a:cxnSpLocks/>
          </p:cNvCxnSpPr>
          <p:nvPr/>
        </p:nvCxnSpPr>
        <p:spPr>
          <a:xfrm>
            <a:off x="2776711" y="4240736"/>
            <a:ext cx="92932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710C308-43F6-EF26-755C-20A80F1E68FA}"/>
              </a:ext>
            </a:extLst>
          </p:cNvPr>
          <p:cNvCxnSpPr>
            <a:cxnSpLocks/>
          </p:cNvCxnSpPr>
          <p:nvPr/>
        </p:nvCxnSpPr>
        <p:spPr>
          <a:xfrm flipH="1">
            <a:off x="4993751" y="4240736"/>
            <a:ext cx="90277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F7E2007-99D1-038D-F0B5-3F1976BEF277}"/>
              </a:ext>
            </a:extLst>
          </p:cNvPr>
          <p:cNvSpPr txBox="1"/>
          <p:nvPr/>
        </p:nvSpPr>
        <p:spPr>
          <a:xfrm>
            <a:off x="3507850" y="2763095"/>
            <a:ext cx="122562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Ahmed </a:t>
            </a:r>
          </a:p>
          <a:p>
            <a:r>
              <a:rPr lang="en-US" u="sng" dirty="0"/>
              <a:t>Bader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6BB294A-6CFC-40A0-E515-9FD2FED1827B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4733474" y="3005470"/>
            <a:ext cx="1100958" cy="807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D46686-EAFE-7163-AF20-561E32EB0335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2882687" y="3005470"/>
            <a:ext cx="625163" cy="807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98DC9-790A-A2E2-E9F2-1798F40DC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defTabSz="685800" eaLnBrk="1" hangingPunct="1"/>
            <a:r>
              <a:rPr lang="en-US" dirty="0"/>
              <a:t>Practical Multi-Party Private Set Intersection Protocols</a:t>
            </a:r>
          </a:p>
        </p:txBody>
      </p:sp>
      <p:pic>
        <p:nvPicPr>
          <p:cNvPr id="4" name="Graphic 3" descr="Call center with solid fill">
            <a:extLst>
              <a:ext uri="{FF2B5EF4-FFF2-40B4-BE49-F238E27FC236}">
                <a16:creationId xmlns:a16="http://schemas.microsoft.com/office/drawing/2014/main" id="{A880EE32-ADBD-B2B9-CA0B-7B8115DEF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6220" y="2283397"/>
            <a:ext cx="617693" cy="617693"/>
          </a:xfrm>
          <a:prstGeom prst="rect">
            <a:avLst/>
          </a:prstGeom>
        </p:spPr>
      </p:pic>
      <p:pic>
        <p:nvPicPr>
          <p:cNvPr id="5" name="Graphic 4" descr="Call center with solid fill">
            <a:extLst>
              <a:ext uri="{FF2B5EF4-FFF2-40B4-BE49-F238E27FC236}">
                <a16:creationId xmlns:a16="http://schemas.microsoft.com/office/drawing/2014/main" id="{CF26E464-CE10-A89A-B6B1-5685BAAB8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9671" y="2901090"/>
            <a:ext cx="617693" cy="617693"/>
          </a:xfrm>
          <a:prstGeom prst="rect">
            <a:avLst/>
          </a:prstGeom>
        </p:spPr>
      </p:pic>
      <p:pic>
        <p:nvPicPr>
          <p:cNvPr id="6" name="Graphic 5" descr="Call center with solid fill">
            <a:extLst>
              <a:ext uri="{FF2B5EF4-FFF2-40B4-BE49-F238E27FC236}">
                <a16:creationId xmlns:a16="http://schemas.microsoft.com/office/drawing/2014/main" id="{E1A920E5-C132-0987-8C72-954A8BBBA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3122" y="3784342"/>
            <a:ext cx="617693" cy="617693"/>
          </a:xfrm>
          <a:prstGeom prst="rect">
            <a:avLst/>
          </a:prstGeom>
        </p:spPr>
      </p:pic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C20EA21A-276B-AE41-6272-184F83C47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6220" y="3816458"/>
            <a:ext cx="617693" cy="617693"/>
          </a:xfrm>
          <a:prstGeom prst="rect">
            <a:avLst/>
          </a:prstGeom>
        </p:spPr>
      </p:pic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3636EF14-DD08-52F2-5026-BADA28355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3122" y="2169097"/>
            <a:ext cx="617693" cy="61769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19E7E5-2EF1-5D26-37E0-A62B95D81B24}"/>
              </a:ext>
            </a:extLst>
          </p:cNvPr>
          <p:cNvCxnSpPr>
            <a:cxnSpLocks/>
          </p:cNvCxnSpPr>
          <p:nvPr/>
        </p:nvCxnSpPr>
        <p:spPr>
          <a:xfrm>
            <a:off x="2930815" y="2449701"/>
            <a:ext cx="1114243" cy="7787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E28B51-7DF3-7E06-8E0D-F0BF59B8D96D}"/>
              </a:ext>
            </a:extLst>
          </p:cNvPr>
          <p:cNvCxnSpPr>
            <a:cxnSpLocks/>
          </p:cNvCxnSpPr>
          <p:nvPr/>
        </p:nvCxnSpPr>
        <p:spPr>
          <a:xfrm flipV="1">
            <a:off x="2930815" y="3228491"/>
            <a:ext cx="1114243" cy="8601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7A6A5A5-9D1B-C9A4-0C27-18691F87E20C}"/>
              </a:ext>
            </a:extLst>
          </p:cNvPr>
          <p:cNvCxnSpPr>
            <a:cxnSpLocks/>
          </p:cNvCxnSpPr>
          <p:nvPr/>
        </p:nvCxnSpPr>
        <p:spPr>
          <a:xfrm flipH="1">
            <a:off x="4767364" y="2600810"/>
            <a:ext cx="1218856" cy="6276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62BFD23-7FAD-788C-D326-072B30D3BBAD}"/>
              </a:ext>
            </a:extLst>
          </p:cNvPr>
          <p:cNvCxnSpPr>
            <a:cxnSpLocks/>
          </p:cNvCxnSpPr>
          <p:nvPr/>
        </p:nvCxnSpPr>
        <p:spPr>
          <a:xfrm flipH="1" flipV="1">
            <a:off x="4767364" y="3228491"/>
            <a:ext cx="1218856" cy="8601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D370204-C5DA-EC1C-38CC-EE7B5DCF3E20}"/>
              </a:ext>
            </a:extLst>
          </p:cNvPr>
          <p:cNvSpPr txBox="1"/>
          <p:nvPr/>
        </p:nvSpPr>
        <p:spPr>
          <a:xfrm>
            <a:off x="1695429" y="2139988"/>
            <a:ext cx="617693" cy="669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750" u="sng" dirty="0"/>
              <a:t>Ahmed</a:t>
            </a:r>
            <a:r>
              <a:rPr lang="en-US" sz="750" dirty="0"/>
              <a:t> </a:t>
            </a:r>
          </a:p>
          <a:p>
            <a:r>
              <a:rPr lang="en-US" sz="750" dirty="0"/>
              <a:t>Abdullah </a:t>
            </a:r>
          </a:p>
          <a:p>
            <a:r>
              <a:rPr lang="en-US" sz="750" u="sng" dirty="0"/>
              <a:t>Bader</a:t>
            </a:r>
          </a:p>
          <a:p>
            <a:r>
              <a:rPr lang="en-US" sz="750" dirty="0"/>
              <a:t>Muhamad</a:t>
            </a:r>
          </a:p>
          <a:p>
            <a:r>
              <a:rPr lang="en-US" sz="750" dirty="0"/>
              <a:t>Khalid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7914A9-0AC5-762D-FC23-3C6D3D6A5F48}"/>
              </a:ext>
            </a:extLst>
          </p:cNvPr>
          <p:cNvSpPr txBox="1"/>
          <p:nvPr/>
        </p:nvSpPr>
        <p:spPr>
          <a:xfrm>
            <a:off x="1707052" y="3753767"/>
            <a:ext cx="617693" cy="669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750" u="sng" dirty="0"/>
              <a:t>Ahmed</a:t>
            </a:r>
            <a:r>
              <a:rPr lang="en-US" sz="750" dirty="0"/>
              <a:t> </a:t>
            </a:r>
          </a:p>
          <a:p>
            <a:r>
              <a:rPr lang="en-US" sz="750" dirty="0"/>
              <a:t>Abdullah </a:t>
            </a:r>
          </a:p>
          <a:p>
            <a:r>
              <a:rPr lang="en-US" sz="750" u="sng" dirty="0"/>
              <a:t>Bader</a:t>
            </a:r>
          </a:p>
          <a:p>
            <a:r>
              <a:rPr lang="en-US" sz="750" dirty="0"/>
              <a:t>Muhamad</a:t>
            </a:r>
          </a:p>
          <a:p>
            <a:r>
              <a:rPr lang="en-US" sz="750" dirty="0"/>
              <a:t>Khalid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7E4022-F3CB-416D-5462-B452DB05662C}"/>
              </a:ext>
            </a:extLst>
          </p:cNvPr>
          <p:cNvSpPr txBox="1"/>
          <p:nvPr/>
        </p:nvSpPr>
        <p:spPr>
          <a:xfrm>
            <a:off x="6603913" y="2237323"/>
            <a:ext cx="617693" cy="669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750" u="sng" dirty="0"/>
              <a:t>Ahmed</a:t>
            </a:r>
            <a:r>
              <a:rPr lang="en-US" sz="750" dirty="0"/>
              <a:t> </a:t>
            </a:r>
          </a:p>
          <a:p>
            <a:r>
              <a:rPr lang="en-US" sz="750" dirty="0"/>
              <a:t>Abdullah </a:t>
            </a:r>
          </a:p>
          <a:p>
            <a:r>
              <a:rPr lang="en-US" sz="750" u="sng" dirty="0"/>
              <a:t>Bader</a:t>
            </a:r>
          </a:p>
          <a:p>
            <a:r>
              <a:rPr lang="en-US" sz="750" dirty="0"/>
              <a:t>Muhamad</a:t>
            </a:r>
          </a:p>
          <a:p>
            <a:r>
              <a:rPr lang="en-US" sz="750" dirty="0"/>
              <a:t>Khalid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A003CB-53BA-ED85-1E07-367EC42ED7D9}"/>
              </a:ext>
            </a:extLst>
          </p:cNvPr>
          <p:cNvSpPr txBox="1"/>
          <p:nvPr/>
        </p:nvSpPr>
        <p:spPr>
          <a:xfrm>
            <a:off x="6587383" y="3765481"/>
            <a:ext cx="617693" cy="669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750" u="sng" dirty="0"/>
              <a:t>Ahmed</a:t>
            </a:r>
            <a:r>
              <a:rPr lang="en-US" sz="750" dirty="0"/>
              <a:t> </a:t>
            </a:r>
          </a:p>
          <a:p>
            <a:r>
              <a:rPr lang="en-US" sz="750" dirty="0"/>
              <a:t>Abdullah </a:t>
            </a:r>
          </a:p>
          <a:p>
            <a:r>
              <a:rPr lang="en-US" sz="750" u="sng" dirty="0"/>
              <a:t>Bader</a:t>
            </a:r>
          </a:p>
          <a:p>
            <a:r>
              <a:rPr lang="en-US" sz="750" dirty="0"/>
              <a:t>Muhamad</a:t>
            </a:r>
          </a:p>
          <a:p>
            <a:r>
              <a:rPr lang="en-US" sz="750" dirty="0"/>
              <a:t>Khalid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D7C3C4F-72C5-CEDF-302F-C022B8C67260}"/>
              </a:ext>
            </a:extLst>
          </p:cNvPr>
          <p:cNvGraphicFramePr>
            <a:graphicFrameLocks noGrp="1"/>
          </p:cNvGraphicFramePr>
          <p:nvPr/>
        </p:nvGraphicFramePr>
        <p:xfrm>
          <a:off x="4755534" y="2644786"/>
          <a:ext cx="1137920" cy="194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2131026697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468285028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1429539994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784336929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3772792675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988088033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3072829609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8143086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E95BFE9-D956-0B80-B353-065A48FCF3C9}"/>
              </a:ext>
            </a:extLst>
          </p:cNvPr>
          <p:cNvGraphicFramePr>
            <a:graphicFrameLocks noGrp="1"/>
          </p:cNvGraphicFramePr>
          <p:nvPr/>
        </p:nvGraphicFramePr>
        <p:xfrm>
          <a:off x="2989943" y="2668884"/>
          <a:ext cx="1137920" cy="194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2131026697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468285028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1429539994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784336929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3772792675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988088033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3072829609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8143086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1F239B01-2755-4741-E5E9-16166FB5DEA1}"/>
              </a:ext>
            </a:extLst>
          </p:cNvPr>
          <p:cNvGraphicFramePr>
            <a:graphicFrameLocks noGrp="1"/>
          </p:cNvGraphicFramePr>
          <p:nvPr/>
        </p:nvGraphicFramePr>
        <p:xfrm>
          <a:off x="2907286" y="3564128"/>
          <a:ext cx="1137920" cy="194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2131026697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468285028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1429539994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784336929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3772792675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988088033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3072829609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8143086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B43393D7-1D09-A449-2590-590FB8BD0494}"/>
              </a:ext>
            </a:extLst>
          </p:cNvPr>
          <p:cNvGraphicFramePr>
            <a:graphicFrameLocks noGrp="1"/>
          </p:cNvGraphicFramePr>
          <p:nvPr/>
        </p:nvGraphicFramePr>
        <p:xfrm>
          <a:off x="4767364" y="3609404"/>
          <a:ext cx="1137920" cy="194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2131026697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468285028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1429539994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784336929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3772792675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988088033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3072829609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8143086"/>
                  </a:ext>
                </a:extLst>
              </a:tr>
            </a:tbl>
          </a:graphicData>
        </a:graphic>
      </p:graphicFrame>
      <p:pic>
        <p:nvPicPr>
          <p:cNvPr id="30" name="Graphic 29" descr="Lock with solid fill">
            <a:extLst>
              <a:ext uri="{FF2B5EF4-FFF2-40B4-BE49-F238E27FC236}">
                <a16:creationId xmlns:a16="http://schemas.microsoft.com/office/drawing/2014/main" id="{3AD74633-C827-3500-A591-81CE9DC50F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33198" y="2649979"/>
            <a:ext cx="225818" cy="225818"/>
          </a:xfrm>
          <a:prstGeom prst="rect">
            <a:avLst/>
          </a:prstGeom>
        </p:spPr>
      </p:pic>
      <p:pic>
        <p:nvPicPr>
          <p:cNvPr id="31" name="Graphic 30" descr="Lock with solid fill">
            <a:extLst>
              <a:ext uri="{FF2B5EF4-FFF2-40B4-BE49-F238E27FC236}">
                <a16:creationId xmlns:a16="http://schemas.microsoft.com/office/drawing/2014/main" id="{BFD5F825-C31C-2332-0783-285C4FA91F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0504" y="3557771"/>
            <a:ext cx="225818" cy="225818"/>
          </a:xfrm>
          <a:prstGeom prst="rect">
            <a:avLst/>
          </a:prstGeom>
        </p:spPr>
      </p:pic>
      <p:pic>
        <p:nvPicPr>
          <p:cNvPr id="32" name="Graphic 31" descr="Lock with solid fill">
            <a:extLst>
              <a:ext uri="{FF2B5EF4-FFF2-40B4-BE49-F238E27FC236}">
                <a16:creationId xmlns:a16="http://schemas.microsoft.com/office/drawing/2014/main" id="{4ED0A760-F782-D519-C536-3A22BEE191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3095" y="3577897"/>
            <a:ext cx="225818" cy="225818"/>
          </a:xfrm>
          <a:prstGeom prst="rect">
            <a:avLst/>
          </a:prstGeom>
        </p:spPr>
      </p:pic>
      <p:pic>
        <p:nvPicPr>
          <p:cNvPr id="33" name="Graphic 32" descr="Lock with solid fill">
            <a:extLst>
              <a:ext uri="{FF2B5EF4-FFF2-40B4-BE49-F238E27FC236}">
                <a16:creationId xmlns:a16="http://schemas.microsoft.com/office/drawing/2014/main" id="{55E3E488-565C-29AB-F9E4-AEB588EDDE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3095" y="2613156"/>
            <a:ext cx="225818" cy="22581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2419BD9-C4AE-DEA9-D0C9-4A53F5251735}"/>
              </a:ext>
            </a:extLst>
          </p:cNvPr>
          <p:cNvSpPr txBox="1"/>
          <p:nvPr/>
        </p:nvSpPr>
        <p:spPr>
          <a:xfrm>
            <a:off x="1173264" y="5646035"/>
            <a:ext cx="71882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50" dirty="0">
                <a:solidFill>
                  <a:srgbClr val="222222"/>
                </a:solidFill>
                <a:latin typeface="Arial" panose="020B0604020202020204" pitchFamily="34" charset="0"/>
              </a:rPr>
              <a:t>Bay, </a:t>
            </a:r>
            <a:r>
              <a:rPr lang="en-US" sz="750" dirty="0" err="1">
                <a:solidFill>
                  <a:srgbClr val="222222"/>
                </a:solidFill>
                <a:latin typeface="Arial" panose="020B0604020202020204" pitchFamily="34" charset="0"/>
              </a:rPr>
              <a:t>Aslı</a:t>
            </a:r>
            <a:r>
              <a:rPr lang="en-US" sz="750" dirty="0">
                <a:solidFill>
                  <a:srgbClr val="222222"/>
                </a:solidFill>
                <a:latin typeface="Arial" panose="020B0604020202020204" pitchFamily="34" charset="0"/>
              </a:rPr>
              <a:t>, et al. "Practical multi-party private set intersection protocols." </a:t>
            </a:r>
            <a:r>
              <a:rPr lang="en-US" sz="750" i="1" dirty="0">
                <a:solidFill>
                  <a:srgbClr val="222222"/>
                </a:solidFill>
                <a:latin typeface="Arial" panose="020B0604020202020204" pitchFamily="34" charset="0"/>
              </a:rPr>
              <a:t>IEEE Transactions on Information Forensics and Security</a:t>
            </a:r>
            <a:r>
              <a:rPr lang="en-US" sz="750" dirty="0">
                <a:solidFill>
                  <a:srgbClr val="222222"/>
                </a:solidFill>
                <a:latin typeface="Arial" panose="020B0604020202020204" pitchFamily="34" charset="0"/>
              </a:rPr>
              <a:t> 17 (2021): 1-15</a:t>
            </a:r>
            <a:endParaRPr lang="en-US" sz="750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4064A473-1E23-1286-5BE7-042773853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EAEC-5119-3448-A2E0-12A2CED95A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56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98DC9-790A-A2E2-E9F2-1798F40DC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defTabSz="685800" eaLnBrk="1" hangingPunct="1"/>
            <a:r>
              <a:rPr lang="en-US" dirty="0"/>
              <a:t>Practical Multi-Party Private Set Intersection Protocols</a:t>
            </a:r>
          </a:p>
        </p:txBody>
      </p:sp>
      <p:pic>
        <p:nvPicPr>
          <p:cNvPr id="4" name="Graphic 3" descr="Call center with solid fill">
            <a:extLst>
              <a:ext uri="{FF2B5EF4-FFF2-40B4-BE49-F238E27FC236}">
                <a16:creationId xmlns:a16="http://schemas.microsoft.com/office/drawing/2014/main" id="{A880EE32-ADBD-B2B9-CA0B-7B8115DEF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6220" y="2283397"/>
            <a:ext cx="617693" cy="617693"/>
          </a:xfrm>
          <a:prstGeom prst="rect">
            <a:avLst/>
          </a:prstGeom>
        </p:spPr>
      </p:pic>
      <p:pic>
        <p:nvPicPr>
          <p:cNvPr id="5" name="Graphic 4" descr="Call center with solid fill">
            <a:extLst>
              <a:ext uri="{FF2B5EF4-FFF2-40B4-BE49-F238E27FC236}">
                <a16:creationId xmlns:a16="http://schemas.microsoft.com/office/drawing/2014/main" id="{CF26E464-CE10-A89A-B6B1-5685BAAB8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9671" y="2901090"/>
            <a:ext cx="617693" cy="617693"/>
          </a:xfrm>
          <a:prstGeom prst="rect">
            <a:avLst/>
          </a:prstGeom>
        </p:spPr>
      </p:pic>
      <p:pic>
        <p:nvPicPr>
          <p:cNvPr id="6" name="Graphic 5" descr="Call center with solid fill">
            <a:extLst>
              <a:ext uri="{FF2B5EF4-FFF2-40B4-BE49-F238E27FC236}">
                <a16:creationId xmlns:a16="http://schemas.microsoft.com/office/drawing/2014/main" id="{E1A920E5-C132-0987-8C72-954A8BBBA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3122" y="3784342"/>
            <a:ext cx="617693" cy="617693"/>
          </a:xfrm>
          <a:prstGeom prst="rect">
            <a:avLst/>
          </a:prstGeom>
        </p:spPr>
      </p:pic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C20EA21A-276B-AE41-6272-184F83C47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6220" y="3816458"/>
            <a:ext cx="617693" cy="617693"/>
          </a:xfrm>
          <a:prstGeom prst="rect">
            <a:avLst/>
          </a:prstGeom>
        </p:spPr>
      </p:pic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3636EF14-DD08-52F2-5026-BADA28355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3122" y="2169097"/>
            <a:ext cx="617693" cy="61769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19E7E5-2EF1-5D26-37E0-A62B95D81B24}"/>
              </a:ext>
            </a:extLst>
          </p:cNvPr>
          <p:cNvCxnSpPr>
            <a:cxnSpLocks/>
          </p:cNvCxnSpPr>
          <p:nvPr/>
        </p:nvCxnSpPr>
        <p:spPr>
          <a:xfrm>
            <a:off x="2930815" y="2449701"/>
            <a:ext cx="1114243" cy="77879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E28B51-7DF3-7E06-8E0D-F0BF59B8D96D}"/>
              </a:ext>
            </a:extLst>
          </p:cNvPr>
          <p:cNvCxnSpPr>
            <a:cxnSpLocks/>
          </p:cNvCxnSpPr>
          <p:nvPr/>
        </p:nvCxnSpPr>
        <p:spPr>
          <a:xfrm flipV="1">
            <a:off x="2930815" y="3228491"/>
            <a:ext cx="1114243" cy="86015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7A6A5A5-9D1B-C9A4-0C27-18691F87E20C}"/>
              </a:ext>
            </a:extLst>
          </p:cNvPr>
          <p:cNvCxnSpPr>
            <a:cxnSpLocks/>
          </p:cNvCxnSpPr>
          <p:nvPr/>
        </p:nvCxnSpPr>
        <p:spPr>
          <a:xfrm flipH="1">
            <a:off x="4767364" y="2600810"/>
            <a:ext cx="1218856" cy="627681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62BFD23-7FAD-788C-D326-072B30D3BBAD}"/>
              </a:ext>
            </a:extLst>
          </p:cNvPr>
          <p:cNvCxnSpPr>
            <a:cxnSpLocks/>
          </p:cNvCxnSpPr>
          <p:nvPr/>
        </p:nvCxnSpPr>
        <p:spPr>
          <a:xfrm flipH="1" flipV="1">
            <a:off x="4767364" y="3228491"/>
            <a:ext cx="1218856" cy="860156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D370204-C5DA-EC1C-38CC-EE7B5DCF3E20}"/>
              </a:ext>
            </a:extLst>
          </p:cNvPr>
          <p:cNvSpPr txBox="1"/>
          <p:nvPr/>
        </p:nvSpPr>
        <p:spPr>
          <a:xfrm>
            <a:off x="1695429" y="2139988"/>
            <a:ext cx="617693" cy="669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750" u="sng" dirty="0"/>
              <a:t>Ahmed</a:t>
            </a:r>
            <a:r>
              <a:rPr lang="en-US" sz="750" dirty="0"/>
              <a:t> </a:t>
            </a:r>
          </a:p>
          <a:p>
            <a:r>
              <a:rPr lang="en-US" sz="750" dirty="0"/>
              <a:t>Abdullah </a:t>
            </a:r>
          </a:p>
          <a:p>
            <a:r>
              <a:rPr lang="en-US" sz="750" u="sng" dirty="0"/>
              <a:t>Bader</a:t>
            </a:r>
          </a:p>
          <a:p>
            <a:r>
              <a:rPr lang="en-US" sz="750" dirty="0"/>
              <a:t>Muhamad</a:t>
            </a:r>
          </a:p>
          <a:p>
            <a:r>
              <a:rPr lang="en-US" sz="750" dirty="0"/>
              <a:t>Khalid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7914A9-0AC5-762D-FC23-3C6D3D6A5F48}"/>
              </a:ext>
            </a:extLst>
          </p:cNvPr>
          <p:cNvSpPr txBox="1"/>
          <p:nvPr/>
        </p:nvSpPr>
        <p:spPr>
          <a:xfrm>
            <a:off x="1707052" y="3753767"/>
            <a:ext cx="617693" cy="669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750" u="sng" dirty="0"/>
              <a:t>Ahmed</a:t>
            </a:r>
            <a:r>
              <a:rPr lang="en-US" sz="750" dirty="0"/>
              <a:t> </a:t>
            </a:r>
          </a:p>
          <a:p>
            <a:r>
              <a:rPr lang="en-US" sz="750" dirty="0"/>
              <a:t>Abdullah </a:t>
            </a:r>
          </a:p>
          <a:p>
            <a:r>
              <a:rPr lang="en-US" sz="750" u="sng" dirty="0"/>
              <a:t>Bader</a:t>
            </a:r>
          </a:p>
          <a:p>
            <a:r>
              <a:rPr lang="en-US" sz="750" dirty="0"/>
              <a:t>Muhamad</a:t>
            </a:r>
          </a:p>
          <a:p>
            <a:r>
              <a:rPr lang="en-US" sz="750" dirty="0"/>
              <a:t>Khalid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7E4022-F3CB-416D-5462-B452DB05662C}"/>
              </a:ext>
            </a:extLst>
          </p:cNvPr>
          <p:cNvSpPr txBox="1"/>
          <p:nvPr/>
        </p:nvSpPr>
        <p:spPr>
          <a:xfrm>
            <a:off x="6603913" y="2237323"/>
            <a:ext cx="617693" cy="669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750" u="sng" dirty="0"/>
              <a:t>Ahmed</a:t>
            </a:r>
            <a:r>
              <a:rPr lang="en-US" sz="750" dirty="0"/>
              <a:t> </a:t>
            </a:r>
          </a:p>
          <a:p>
            <a:r>
              <a:rPr lang="en-US" sz="750" dirty="0"/>
              <a:t>Abdullah </a:t>
            </a:r>
          </a:p>
          <a:p>
            <a:r>
              <a:rPr lang="en-US" sz="750" u="sng" dirty="0"/>
              <a:t>Bader</a:t>
            </a:r>
          </a:p>
          <a:p>
            <a:r>
              <a:rPr lang="en-US" sz="750" dirty="0"/>
              <a:t>Muhamad</a:t>
            </a:r>
          </a:p>
          <a:p>
            <a:r>
              <a:rPr lang="en-US" sz="750" dirty="0"/>
              <a:t>Khalid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A003CB-53BA-ED85-1E07-367EC42ED7D9}"/>
              </a:ext>
            </a:extLst>
          </p:cNvPr>
          <p:cNvSpPr txBox="1"/>
          <p:nvPr/>
        </p:nvSpPr>
        <p:spPr>
          <a:xfrm>
            <a:off x="6587383" y="3765481"/>
            <a:ext cx="617693" cy="669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750" u="sng" dirty="0"/>
              <a:t>Ahmed</a:t>
            </a:r>
            <a:r>
              <a:rPr lang="en-US" sz="750" dirty="0"/>
              <a:t> </a:t>
            </a:r>
          </a:p>
          <a:p>
            <a:r>
              <a:rPr lang="en-US" sz="750" dirty="0"/>
              <a:t>Abdullah </a:t>
            </a:r>
          </a:p>
          <a:p>
            <a:r>
              <a:rPr lang="en-US" sz="750" u="sng" dirty="0"/>
              <a:t>Bader</a:t>
            </a:r>
          </a:p>
          <a:p>
            <a:r>
              <a:rPr lang="en-US" sz="750" dirty="0"/>
              <a:t>Muhamad</a:t>
            </a:r>
          </a:p>
          <a:p>
            <a:r>
              <a:rPr lang="en-US" sz="750" dirty="0"/>
              <a:t>Khalid</a:t>
            </a:r>
          </a:p>
        </p:txBody>
      </p:sp>
      <p:pic>
        <p:nvPicPr>
          <p:cNvPr id="10" name="Graphic 9" descr="Scroll with solid fill">
            <a:extLst>
              <a:ext uri="{FF2B5EF4-FFF2-40B4-BE49-F238E27FC236}">
                <a16:creationId xmlns:a16="http://schemas.microsoft.com/office/drawing/2014/main" id="{84E308E9-5FB1-C66C-6435-FECD908220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93295" y="2441952"/>
            <a:ext cx="359826" cy="359826"/>
          </a:xfrm>
          <a:prstGeom prst="rect">
            <a:avLst/>
          </a:prstGeom>
        </p:spPr>
      </p:pic>
      <p:pic>
        <p:nvPicPr>
          <p:cNvPr id="11" name="Graphic 10" descr="Scroll with solid fill">
            <a:extLst>
              <a:ext uri="{FF2B5EF4-FFF2-40B4-BE49-F238E27FC236}">
                <a16:creationId xmlns:a16="http://schemas.microsoft.com/office/drawing/2014/main" id="{2BB47C6E-DC11-5077-06AB-C4A78036B5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68595" y="3617924"/>
            <a:ext cx="359826" cy="359826"/>
          </a:xfrm>
          <a:prstGeom prst="rect">
            <a:avLst/>
          </a:prstGeom>
        </p:spPr>
      </p:pic>
      <p:pic>
        <p:nvPicPr>
          <p:cNvPr id="13" name="Graphic 12" descr="Scroll with solid fill">
            <a:extLst>
              <a:ext uri="{FF2B5EF4-FFF2-40B4-BE49-F238E27FC236}">
                <a16:creationId xmlns:a16="http://schemas.microsoft.com/office/drawing/2014/main" id="{A78141EB-FD19-64FF-EAD2-DEE46AA6A4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4457" y="2621865"/>
            <a:ext cx="359826" cy="359826"/>
          </a:xfrm>
          <a:prstGeom prst="rect">
            <a:avLst/>
          </a:prstGeom>
        </p:spPr>
      </p:pic>
      <p:pic>
        <p:nvPicPr>
          <p:cNvPr id="14" name="Graphic 13" descr="Scroll with solid fill">
            <a:extLst>
              <a:ext uri="{FF2B5EF4-FFF2-40B4-BE49-F238E27FC236}">
                <a16:creationId xmlns:a16="http://schemas.microsoft.com/office/drawing/2014/main" id="{D1D1AD80-B1DB-CD60-0CFE-DD02056678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68526" y="3508533"/>
            <a:ext cx="359826" cy="35982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C7A20CA-938E-4DE2-85F0-C3F5759D361C}"/>
              </a:ext>
            </a:extLst>
          </p:cNvPr>
          <p:cNvSpPr txBox="1"/>
          <p:nvPr/>
        </p:nvSpPr>
        <p:spPr>
          <a:xfrm>
            <a:off x="3706827" y="4146464"/>
            <a:ext cx="1503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Decrypt to find set intersection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96BC33-7DEF-6D01-F4D9-C55CE5E5679E}"/>
              </a:ext>
            </a:extLst>
          </p:cNvPr>
          <p:cNvSpPr txBox="1"/>
          <p:nvPr/>
        </p:nvSpPr>
        <p:spPr>
          <a:xfrm>
            <a:off x="1173264" y="5646035"/>
            <a:ext cx="71882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50" dirty="0">
                <a:solidFill>
                  <a:srgbClr val="222222"/>
                </a:solidFill>
                <a:latin typeface="Arial" panose="020B0604020202020204" pitchFamily="34" charset="0"/>
              </a:rPr>
              <a:t>Bay, </a:t>
            </a:r>
            <a:r>
              <a:rPr lang="en-US" sz="750" dirty="0" err="1">
                <a:solidFill>
                  <a:srgbClr val="222222"/>
                </a:solidFill>
                <a:latin typeface="Arial" panose="020B0604020202020204" pitchFamily="34" charset="0"/>
              </a:rPr>
              <a:t>Aslı</a:t>
            </a:r>
            <a:r>
              <a:rPr lang="en-US" sz="750" dirty="0">
                <a:solidFill>
                  <a:srgbClr val="222222"/>
                </a:solidFill>
                <a:latin typeface="Arial" panose="020B0604020202020204" pitchFamily="34" charset="0"/>
              </a:rPr>
              <a:t>, et al. "Practical multi-party private set intersection protocols." </a:t>
            </a:r>
            <a:r>
              <a:rPr lang="en-US" sz="750" i="1" dirty="0">
                <a:solidFill>
                  <a:srgbClr val="222222"/>
                </a:solidFill>
                <a:latin typeface="Arial" panose="020B0604020202020204" pitchFamily="34" charset="0"/>
              </a:rPr>
              <a:t>IEEE Transactions on Information Forensics and Security</a:t>
            </a:r>
            <a:r>
              <a:rPr lang="en-US" sz="750" dirty="0">
                <a:solidFill>
                  <a:srgbClr val="222222"/>
                </a:solidFill>
                <a:latin typeface="Arial" panose="020B0604020202020204" pitchFamily="34" charset="0"/>
              </a:rPr>
              <a:t> 17 (2021): 1-15</a:t>
            </a:r>
            <a:endParaRPr lang="en-US" sz="7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E9EF78-0D8C-04BF-AAA0-6F076D35678A}"/>
              </a:ext>
            </a:extLst>
          </p:cNvPr>
          <p:cNvSpPr txBox="1"/>
          <p:nvPr/>
        </p:nvSpPr>
        <p:spPr>
          <a:xfrm>
            <a:off x="2791258" y="2889221"/>
            <a:ext cx="3338610" cy="83099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What if sets are updated? 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F8C7B63-5E99-E27F-D51F-ECC8D1AB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EAEC-5119-3448-A2E0-12A2CED95A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5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98DC9-790A-A2E2-E9F2-1798F40DC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defTabSz="685800" eaLnBrk="1" hangingPunct="1"/>
            <a:r>
              <a:rPr lang="en-US" dirty="0"/>
              <a:t>"</a:t>
            </a:r>
            <a:r>
              <a:rPr lang="en-US" b="1" dirty="0"/>
              <a:t>Updatable</a:t>
            </a:r>
            <a:r>
              <a:rPr lang="en-US" dirty="0"/>
              <a:t>" Multi-Party Private Set Intersection Protocols</a:t>
            </a:r>
          </a:p>
        </p:txBody>
      </p:sp>
      <p:pic>
        <p:nvPicPr>
          <p:cNvPr id="4" name="Graphic 3" descr="Call center with solid fill">
            <a:extLst>
              <a:ext uri="{FF2B5EF4-FFF2-40B4-BE49-F238E27FC236}">
                <a16:creationId xmlns:a16="http://schemas.microsoft.com/office/drawing/2014/main" id="{A880EE32-ADBD-B2B9-CA0B-7B8115DEF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6220" y="2283397"/>
            <a:ext cx="617693" cy="617693"/>
          </a:xfrm>
          <a:prstGeom prst="rect">
            <a:avLst/>
          </a:prstGeom>
        </p:spPr>
      </p:pic>
      <p:pic>
        <p:nvPicPr>
          <p:cNvPr id="5" name="Graphic 4" descr="Call center with solid fill">
            <a:extLst>
              <a:ext uri="{FF2B5EF4-FFF2-40B4-BE49-F238E27FC236}">
                <a16:creationId xmlns:a16="http://schemas.microsoft.com/office/drawing/2014/main" id="{CF26E464-CE10-A89A-B6B1-5685BAAB8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9671" y="2901090"/>
            <a:ext cx="617693" cy="617693"/>
          </a:xfrm>
          <a:prstGeom prst="rect">
            <a:avLst/>
          </a:prstGeom>
        </p:spPr>
      </p:pic>
      <p:pic>
        <p:nvPicPr>
          <p:cNvPr id="6" name="Graphic 5" descr="Call center with solid fill">
            <a:extLst>
              <a:ext uri="{FF2B5EF4-FFF2-40B4-BE49-F238E27FC236}">
                <a16:creationId xmlns:a16="http://schemas.microsoft.com/office/drawing/2014/main" id="{E1A920E5-C132-0987-8C72-954A8BBBA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3122" y="3784342"/>
            <a:ext cx="617693" cy="617693"/>
          </a:xfrm>
          <a:prstGeom prst="rect">
            <a:avLst/>
          </a:prstGeom>
        </p:spPr>
      </p:pic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C20EA21A-276B-AE41-6272-184F83C47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6220" y="3816458"/>
            <a:ext cx="617693" cy="617693"/>
          </a:xfrm>
          <a:prstGeom prst="rect">
            <a:avLst/>
          </a:prstGeom>
        </p:spPr>
      </p:pic>
      <p:pic>
        <p:nvPicPr>
          <p:cNvPr id="8" name="Graphic 7" descr="Call center with solid fill">
            <a:extLst>
              <a:ext uri="{FF2B5EF4-FFF2-40B4-BE49-F238E27FC236}">
                <a16:creationId xmlns:a16="http://schemas.microsoft.com/office/drawing/2014/main" id="{3636EF14-DD08-52F2-5026-BADA28355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13122" y="2169097"/>
            <a:ext cx="617693" cy="61769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19E7E5-2EF1-5D26-37E0-A62B95D81B24}"/>
              </a:ext>
            </a:extLst>
          </p:cNvPr>
          <p:cNvCxnSpPr>
            <a:cxnSpLocks/>
          </p:cNvCxnSpPr>
          <p:nvPr/>
        </p:nvCxnSpPr>
        <p:spPr>
          <a:xfrm>
            <a:off x="2930815" y="2449701"/>
            <a:ext cx="1114243" cy="7787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E28B51-7DF3-7E06-8E0D-F0BF59B8D96D}"/>
              </a:ext>
            </a:extLst>
          </p:cNvPr>
          <p:cNvCxnSpPr>
            <a:cxnSpLocks/>
          </p:cNvCxnSpPr>
          <p:nvPr/>
        </p:nvCxnSpPr>
        <p:spPr>
          <a:xfrm flipV="1">
            <a:off x="2930815" y="3228491"/>
            <a:ext cx="1114243" cy="8601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7A6A5A5-9D1B-C9A4-0C27-18691F87E20C}"/>
              </a:ext>
            </a:extLst>
          </p:cNvPr>
          <p:cNvCxnSpPr>
            <a:cxnSpLocks/>
          </p:cNvCxnSpPr>
          <p:nvPr/>
        </p:nvCxnSpPr>
        <p:spPr>
          <a:xfrm flipH="1">
            <a:off x="4767364" y="2600810"/>
            <a:ext cx="1218856" cy="6276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62BFD23-7FAD-788C-D326-072B30D3BBAD}"/>
              </a:ext>
            </a:extLst>
          </p:cNvPr>
          <p:cNvCxnSpPr>
            <a:cxnSpLocks/>
          </p:cNvCxnSpPr>
          <p:nvPr/>
        </p:nvCxnSpPr>
        <p:spPr>
          <a:xfrm flipH="1" flipV="1">
            <a:off x="4767364" y="3228491"/>
            <a:ext cx="1218856" cy="8601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D370204-C5DA-EC1C-38CC-EE7B5DCF3E20}"/>
              </a:ext>
            </a:extLst>
          </p:cNvPr>
          <p:cNvSpPr txBox="1"/>
          <p:nvPr/>
        </p:nvSpPr>
        <p:spPr>
          <a:xfrm>
            <a:off x="1695429" y="2139988"/>
            <a:ext cx="617693" cy="669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750" u="sng" dirty="0"/>
              <a:t>Ahmed</a:t>
            </a:r>
            <a:r>
              <a:rPr lang="en-US" sz="750" dirty="0"/>
              <a:t> </a:t>
            </a:r>
          </a:p>
          <a:p>
            <a:r>
              <a:rPr lang="en-US" sz="750" dirty="0"/>
              <a:t>Abdullah </a:t>
            </a:r>
          </a:p>
          <a:p>
            <a:r>
              <a:rPr lang="en-US" sz="750" u="sng" dirty="0"/>
              <a:t>Bader</a:t>
            </a:r>
          </a:p>
          <a:p>
            <a:r>
              <a:rPr lang="en-US" sz="750" dirty="0"/>
              <a:t>Muhamad</a:t>
            </a:r>
          </a:p>
          <a:p>
            <a:r>
              <a:rPr lang="en-US" sz="750" dirty="0"/>
              <a:t>Khalid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7914A9-0AC5-762D-FC23-3C6D3D6A5F48}"/>
              </a:ext>
            </a:extLst>
          </p:cNvPr>
          <p:cNvSpPr txBox="1"/>
          <p:nvPr/>
        </p:nvSpPr>
        <p:spPr>
          <a:xfrm>
            <a:off x="1707052" y="3753767"/>
            <a:ext cx="617693" cy="669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750" u="sng" dirty="0"/>
              <a:t>Ahmed</a:t>
            </a:r>
            <a:r>
              <a:rPr lang="en-US" sz="750" dirty="0"/>
              <a:t> </a:t>
            </a:r>
          </a:p>
          <a:p>
            <a:r>
              <a:rPr lang="en-US" sz="750" dirty="0"/>
              <a:t>Abdullah </a:t>
            </a:r>
          </a:p>
          <a:p>
            <a:r>
              <a:rPr lang="en-US" sz="750" u="sng" dirty="0"/>
              <a:t>Bader</a:t>
            </a:r>
          </a:p>
          <a:p>
            <a:r>
              <a:rPr lang="en-US" sz="750" dirty="0"/>
              <a:t>Muhamad</a:t>
            </a:r>
          </a:p>
          <a:p>
            <a:r>
              <a:rPr lang="en-US" sz="750" dirty="0"/>
              <a:t>Khalid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7E4022-F3CB-416D-5462-B452DB05662C}"/>
              </a:ext>
            </a:extLst>
          </p:cNvPr>
          <p:cNvSpPr txBox="1"/>
          <p:nvPr/>
        </p:nvSpPr>
        <p:spPr>
          <a:xfrm>
            <a:off x="6603913" y="2237323"/>
            <a:ext cx="617693" cy="669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750" u="sng" dirty="0"/>
              <a:t>Ahmed</a:t>
            </a:r>
            <a:r>
              <a:rPr lang="en-US" sz="750" dirty="0"/>
              <a:t> </a:t>
            </a:r>
          </a:p>
          <a:p>
            <a:r>
              <a:rPr lang="en-US" sz="750" dirty="0"/>
              <a:t>Abdullah </a:t>
            </a:r>
          </a:p>
          <a:p>
            <a:r>
              <a:rPr lang="en-US" sz="750" u="sng" dirty="0"/>
              <a:t>Bader</a:t>
            </a:r>
          </a:p>
          <a:p>
            <a:r>
              <a:rPr lang="en-US" sz="750" dirty="0"/>
              <a:t>Muhamad</a:t>
            </a:r>
          </a:p>
          <a:p>
            <a:r>
              <a:rPr lang="en-US" sz="750" dirty="0"/>
              <a:t>Khalid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A003CB-53BA-ED85-1E07-367EC42ED7D9}"/>
              </a:ext>
            </a:extLst>
          </p:cNvPr>
          <p:cNvSpPr txBox="1"/>
          <p:nvPr/>
        </p:nvSpPr>
        <p:spPr>
          <a:xfrm>
            <a:off x="6587383" y="3765481"/>
            <a:ext cx="617693" cy="6694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750" u="sng" dirty="0"/>
              <a:t>Ahmed</a:t>
            </a:r>
            <a:r>
              <a:rPr lang="en-US" sz="750" dirty="0"/>
              <a:t> </a:t>
            </a:r>
          </a:p>
          <a:p>
            <a:r>
              <a:rPr lang="en-US" sz="750" dirty="0"/>
              <a:t>Abdullah </a:t>
            </a:r>
          </a:p>
          <a:p>
            <a:r>
              <a:rPr lang="en-US" sz="750" u="sng" dirty="0"/>
              <a:t>Bader</a:t>
            </a:r>
          </a:p>
          <a:p>
            <a:r>
              <a:rPr lang="en-US" sz="750" dirty="0"/>
              <a:t>Muhamad</a:t>
            </a:r>
          </a:p>
          <a:p>
            <a:r>
              <a:rPr lang="en-US" sz="750" dirty="0"/>
              <a:t>Khalid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D7C3C4F-72C5-CEDF-302F-C022B8C67260}"/>
              </a:ext>
            </a:extLst>
          </p:cNvPr>
          <p:cNvGraphicFramePr>
            <a:graphicFrameLocks noGrp="1"/>
          </p:cNvGraphicFramePr>
          <p:nvPr/>
        </p:nvGraphicFramePr>
        <p:xfrm>
          <a:off x="4755534" y="2644786"/>
          <a:ext cx="1137920" cy="194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2131026697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468285028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1429539994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784336929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3772792675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988088033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3072829609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8143086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E95BFE9-D956-0B80-B353-065A48FCF3C9}"/>
              </a:ext>
            </a:extLst>
          </p:cNvPr>
          <p:cNvGraphicFramePr>
            <a:graphicFrameLocks noGrp="1"/>
          </p:cNvGraphicFramePr>
          <p:nvPr/>
        </p:nvGraphicFramePr>
        <p:xfrm>
          <a:off x="2989943" y="2668884"/>
          <a:ext cx="1137920" cy="194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2131026697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468285028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1429539994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784336929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3772792675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988088033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3072829609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8143086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1F239B01-2755-4741-E5E9-16166FB5DEA1}"/>
              </a:ext>
            </a:extLst>
          </p:cNvPr>
          <p:cNvGraphicFramePr>
            <a:graphicFrameLocks noGrp="1"/>
          </p:cNvGraphicFramePr>
          <p:nvPr/>
        </p:nvGraphicFramePr>
        <p:xfrm>
          <a:off x="2907286" y="3564128"/>
          <a:ext cx="1137920" cy="194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2131026697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468285028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1429539994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784336929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3772792675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988088033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3072829609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8143086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B43393D7-1D09-A449-2590-590FB8BD0494}"/>
              </a:ext>
            </a:extLst>
          </p:cNvPr>
          <p:cNvGraphicFramePr>
            <a:graphicFrameLocks noGrp="1"/>
          </p:cNvGraphicFramePr>
          <p:nvPr/>
        </p:nvGraphicFramePr>
        <p:xfrm>
          <a:off x="4767364" y="3609404"/>
          <a:ext cx="1137920" cy="194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2131026697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468285028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1429539994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784336929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3772792675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988088033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3072829609"/>
                    </a:ext>
                  </a:extLst>
                </a:gridCol>
              </a:tblGrid>
              <a:tr h="194310"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1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8143086"/>
                  </a:ext>
                </a:extLst>
              </a:tr>
            </a:tbl>
          </a:graphicData>
        </a:graphic>
      </p:graphicFrame>
      <p:pic>
        <p:nvPicPr>
          <p:cNvPr id="30" name="Graphic 29" descr="Lock with solid fill">
            <a:extLst>
              <a:ext uri="{FF2B5EF4-FFF2-40B4-BE49-F238E27FC236}">
                <a16:creationId xmlns:a16="http://schemas.microsoft.com/office/drawing/2014/main" id="{3AD74633-C827-3500-A591-81CE9DC50F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33198" y="2649979"/>
            <a:ext cx="225818" cy="225818"/>
          </a:xfrm>
          <a:prstGeom prst="rect">
            <a:avLst/>
          </a:prstGeom>
        </p:spPr>
      </p:pic>
      <p:pic>
        <p:nvPicPr>
          <p:cNvPr id="31" name="Graphic 30" descr="Lock with solid fill">
            <a:extLst>
              <a:ext uri="{FF2B5EF4-FFF2-40B4-BE49-F238E27FC236}">
                <a16:creationId xmlns:a16="http://schemas.microsoft.com/office/drawing/2014/main" id="{BFD5F825-C31C-2332-0783-285C4FA91F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0504" y="3557771"/>
            <a:ext cx="225818" cy="225818"/>
          </a:xfrm>
          <a:prstGeom prst="rect">
            <a:avLst/>
          </a:prstGeom>
        </p:spPr>
      </p:pic>
      <p:pic>
        <p:nvPicPr>
          <p:cNvPr id="32" name="Graphic 31" descr="Lock with solid fill">
            <a:extLst>
              <a:ext uri="{FF2B5EF4-FFF2-40B4-BE49-F238E27FC236}">
                <a16:creationId xmlns:a16="http://schemas.microsoft.com/office/drawing/2014/main" id="{4ED0A760-F782-D519-C536-3A22BEE191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3095" y="3577897"/>
            <a:ext cx="225818" cy="225818"/>
          </a:xfrm>
          <a:prstGeom prst="rect">
            <a:avLst/>
          </a:prstGeom>
        </p:spPr>
      </p:pic>
      <p:pic>
        <p:nvPicPr>
          <p:cNvPr id="33" name="Graphic 32" descr="Lock with solid fill">
            <a:extLst>
              <a:ext uri="{FF2B5EF4-FFF2-40B4-BE49-F238E27FC236}">
                <a16:creationId xmlns:a16="http://schemas.microsoft.com/office/drawing/2014/main" id="{55E3E488-565C-29AB-F9E4-AEB588EDDE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23095" y="2613156"/>
            <a:ext cx="225818" cy="22581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E2E71-F710-D77C-5884-E537BA3DE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8EAEC-5119-3448-A2E0-12A2CED95A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300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556D2-3133-E161-8705-B01A53528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SEC595: Encrypted Computing | Dr. Muhamad Felemban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C2988-C404-12FF-37F1-48949577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4FE65C-0B6C-2845-80D3-71BAE0608084}" type="slidenum">
              <a:rPr lang="en-US" altLang="en-US" smtClean="0"/>
              <a:pPr>
                <a:defRPr/>
              </a:pPr>
              <a:t>28</a:t>
            </a:fld>
            <a:endParaRPr lang="en-US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2B2AA55-30FC-944D-7E6B-09651D73E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Exciting News!!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95976D-664D-4139-D3F0-E44D75BBF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143000"/>
            <a:ext cx="7772400" cy="160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834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D6E13-F103-5246-B762-EEC10DC69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The objective of this course is to</a:t>
            </a: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the students to the emerging field of encrypted computing.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romanLcPeriod"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Expose students to the state-of-the-art algorithms in homomorphic encryption and secure multiparty computation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A61D9-4934-9D45-BB29-2889E9046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SEC595: Encrypted Computing | Dr. Muhamad Felemban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0B410-6799-DC46-9A45-1860D197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79C-BA14-6743-B5E9-E73E392A7250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23557" name="Title 1">
            <a:extLst>
              <a:ext uri="{FF2B5EF4-FFF2-40B4-BE49-F238E27FC236}">
                <a16:creationId xmlns:a16="http://schemas.microsoft.com/office/drawing/2014/main" id="{55A481FF-E9D6-3F46-92F8-4317811823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Course Objectives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4922D-9181-FF48-974E-BED3A36CF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After taking this course, you will be able to </a:t>
            </a:r>
          </a:p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Explain various encrypted computing techniques and algorithms.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Identify the advantages and challenges of different encrypted computing algorithms.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Apply appropriate encrypted computing techniques based on the application’s requirements.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Design new encrypted computing techniques and protocols.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2BB0B80-84DE-6049-94F7-4797CDFA5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SEC595: Encrypted Computing | Dr. Muhamad Felemban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EA724-3912-5145-B20A-7D511D2E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79C-BA14-6743-B5E9-E73E392A7250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2FE76E-06B6-294D-8810-6B6956774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Learning Outcomes </a:t>
            </a:r>
          </a:p>
        </p:txBody>
      </p:sp>
    </p:spTree>
    <p:extLst>
      <p:ext uri="{BB962C8B-B14F-4D97-AF65-F5344CB8AC3E}">
        <p14:creationId xmlns:p14="http://schemas.microsoft.com/office/powerpoint/2010/main" val="1781471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3918E7-28C5-D04D-A79A-34EB19773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Lectures: Sunday &amp; Tuesday, 8:10-9:25 PM</a:t>
            </a:r>
          </a:p>
          <a:p>
            <a:r>
              <a:rPr lang="en-US" dirty="0"/>
              <a:t>Office hours: UT 1:00-2:00 PM </a:t>
            </a:r>
          </a:p>
          <a:p>
            <a:pPr lvl="1"/>
            <a:r>
              <a:rPr lang="en-US" dirty="0"/>
              <a:t>Office# 22-214</a:t>
            </a:r>
          </a:p>
          <a:p>
            <a:pPr lvl="1"/>
            <a:r>
              <a:rPr lang="en-US" dirty="0"/>
              <a:t>Teams (or send me on Teams and I will try to accommodate your Qs online )</a:t>
            </a:r>
          </a:p>
          <a:p>
            <a:r>
              <a:rPr lang="en-US" dirty="0"/>
              <a:t>Web page:</a:t>
            </a:r>
          </a:p>
          <a:p>
            <a:pPr lvl="1"/>
            <a:r>
              <a:rPr lang="en-US" dirty="0"/>
              <a:t>Blackboard page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E5F30D-3575-8C49-9C7F-31CD7EA7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SEC595: Encrypted Computing | Dr. Muhamad Felemban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987F0-AF21-0349-BB21-A18EB741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79C-BA14-6743-B5E9-E73E392A7250}" type="slidenum">
              <a:rPr lang="en-US" altLang="en-US" smtClean="0"/>
              <a:pPr/>
              <a:t>31</a:t>
            </a:fld>
            <a:endParaRPr lang="en-US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</p:spTree>
    <p:extLst>
      <p:ext uri="{BB962C8B-B14F-4D97-AF65-F5344CB8AC3E}">
        <p14:creationId xmlns:p14="http://schemas.microsoft.com/office/powerpoint/2010/main" val="20498848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3918E7-28C5-D04D-A79A-34EB19773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  <a:p>
            <a:pPr lvl="1"/>
            <a:r>
              <a:rPr lang="en-US" dirty="0"/>
              <a:t>Paper Presentation				10 %</a:t>
            </a:r>
          </a:p>
          <a:p>
            <a:pPr lvl="1"/>
            <a:r>
              <a:rPr lang="en-US" dirty="0"/>
              <a:t>Term Project 				50%</a:t>
            </a:r>
          </a:p>
          <a:p>
            <a:pPr lvl="1"/>
            <a:r>
              <a:rPr lang="en-US" dirty="0"/>
              <a:t>Major Exam 				20%</a:t>
            </a:r>
          </a:p>
          <a:p>
            <a:pPr lvl="1"/>
            <a:r>
              <a:rPr lang="en-US" dirty="0"/>
              <a:t>Final Exam 				20%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68F1F4-6F2E-D541-BB39-D2CA63FC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SEC595: Encrypted Computing | Dr. Muhamad Felemban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F3CCB-CF56-4244-B149-890F102C7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79C-BA14-6743-B5E9-E73E392A7250}" type="slidenum">
              <a:rPr lang="en-US" altLang="en-US" smtClean="0"/>
              <a:pPr/>
              <a:t>32</a:t>
            </a:fld>
            <a:endParaRPr lang="en-US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</p:spTree>
    <p:extLst>
      <p:ext uri="{BB962C8B-B14F-4D97-AF65-F5344CB8AC3E}">
        <p14:creationId xmlns:p14="http://schemas.microsoft.com/office/powerpoint/2010/main" val="8179037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EA9891B-ACAF-E84D-B65E-631416C28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Course Project:</a:t>
            </a:r>
          </a:p>
          <a:p>
            <a:pPr lvl="1"/>
            <a:r>
              <a:rPr lang="en-US" dirty="0"/>
              <a:t>Teams of 2-3 (if you want to work alone, please let me know ahead of time)</a:t>
            </a:r>
          </a:p>
          <a:p>
            <a:pPr lvl="1"/>
            <a:r>
              <a:rPr lang="en-US" dirty="0"/>
              <a:t>Project proposal: 0.5-1 page (TBA)</a:t>
            </a:r>
          </a:p>
          <a:p>
            <a:pPr lvl="1"/>
            <a:r>
              <a:rPr lang="en-US" dirty="0"/>
              <a:t>Deliverable Part I: 1-2 page Progress report (TBA)</a:t>
            </a:r>
          </a:p>
          <a:p>
            <a:pPr lvl="1"/>
            <a:r>
              <a:rPr lang="en-US" dirty="0"/>
              <a:t>Deliverable Part II: Written report: 4-8 pages (TBA)</a:t>
            </a:r>
          </a:p>
          <a:p>
            <a:pPr lvl="1"/>
            <a:r>
              <a:rPr lang="en-US" dirty="0"/>
              <a:t>In-class presentations (Week 15)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F4E9EB2-5F1E-C145-9DA6-03067D8C4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SEC595: Encrypted Computing | Dr. Muhamad Felemban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11C5E-2B43-3745-B46E-26787AFB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79C-BA14-6743-B5E9-E73E392A7250}" type="slidenum">
              <a:rPr lang="en-US" altLang="en-US" smtClean="0"/>
              <a:pPr/>
              <a:t>33</a:t>
            </a:fld>
            <a:endParaRPr lang="en-US" alt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</a:t>
            </a:r>
          </a:p>
        </p:txBody>
      </p:sp>
    </p:spTree>
    <p:extLst>
      <p:ext uri="{BB962C8B-B14F-4D97-AF65-F5344CB8AC3E}">
        <p14:creationId xmlns:p14="http://schemas.microsoft.com/office/powerpoint/2010/main" val="118512956"/>
      </p:ext>
    </p:extLst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D80A0EA57A7747A10508C03AE9B5FD" ma:contentTypeVersion="4" ma:contentTypeDescription="Create a new document." ma:contentTypeScope="" ma:versionID="9644134ab4ba5c332a9059aec268b0ca">
  <xsd:schema xmlns:xsd="http://www.w3.org/2001/XMLSchema" xmlns:xs="http://www.w3.org/2001/XMLSchema" xmlns:p="http://schemas.microsoft.com/office/2006/metadata/properties" xmlns:ns2="837904e5-5329-4e50-8811-0545955fba74" targetNamespace="http://schemas.microsoft.com/office/2006/metadata/properties" ma:root="true" ma:fieldsID="9de839035f9a8c529b4dc78ea2bc3bfb" ns2:_="">
    <xsd:import namespace="837904e5-5329-4e50-8811-0545955fba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7904e5-5329-4e50-8811-0545955fba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739DBE-ECF6-49D1-B833-F71F3CBF04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7904e5-5329-4e50-8811-0545955fba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E6745B-CB39-47FD-BD26-370D8C296C1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KFUPM-Template</Template>
  <TotalTime>46070</TotalTime>
  <Words>1772</Words>
  <Application>Microsoft Macintosh PowerPoint</Application>
  <PresentationFormat>On-screen Show (4:3)</PresentationFormat>
  <Paragraphs>382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Comic Sans MS</vt:lpstr>
      <vt:lpstr>Symbol</vt:lpstr>
      <vt:lpstr>Tahoma</vt:lpstr>
      <vt:lpstr>Times New Roman</vt:lpstr>
      <vt:lpstr>Wingdings</vt:lpstr>
      <vt:lpstr>3_Custom Design</vt:lpstr>
      <vt:lpstr>SEC 595: Special Topics in Information Assurance &amp; Security Secure Computing  (or Computing on Encrypted Data)</vt:lpstr>
      <vt:lpstr>What Is Security?</vt:lpstr>
      <vt:lpstr>Security Vs. Privacy</vt:lpstr>
      <vt:lpstr>PowerPoint Presentation</vt:lpstr>
      <vt:lpstr>Homomorphic Encryption </vt:lpstr>
      <vt:lpstr>A Toy HE Scheme </vt:lpstr>
      <vt:lpstr>An Analogy </vt:lpstr>
      <vt:lpstr>Evolution of FHE Schemes</vt:lpstr>
      <vt:lpstr>Examples of Homomorphic Encryption</vt:lpstr>
      <vt:lpstr>Examples of Homomorphic Encryption</vt:lpstr>
      <vt:lpstr>Homomorphic Encryption Types</vt:lpstr>
      <vt:lpstr>Towards FHE</vt:lpstr>
      <vt:lpstr>A homomorphic symmetric encryption</vt:lpstr>
      <vt:lpstr>Why is this homomorphic?</vt:lpstr>
      <vt:lpstr>How homomorphic is this?</vt:lpstr>
      <vt:lpstr>Homomorphic Public-Key Encryption</vt:lpstr>
      <vt:lpstr>Bootstrapping</vt:lpstr>
      <vt:lpstr>Speeding Up Bootstrapping</vt:lpstr>
      <vt:lpstr>FHE Application Space</vt:lpstr>
      <vt:lpstr>PowerPoint Presentation</vt:lpstr>
      <vt:lpstr>Secure Multiparty Computation (SMPC or MPC)</vt:lpstr>
      <vt:lpstr>A Couple of Observations</vt:lpstr>
      <vt:lpstr>Yao’s Millionaire Problem</vt:lpstr>
      <vt:lpstr>Use case: Private Set Intersection </vt:lpstr>
      <vt:lpstr>Practical Multi-Party Private Set Intersection Protocols</vt:lpstr>
      <vt:lpstr>Practical Multi-Party Private Set Intersection Protocols</vt:lpstr>
      <vt:lpstr>"Updatable" Multi-Party Private Set Intersection Protocols</vt:lpstr>
      <vt:lpstr>Exciting News!!</vt:lpstr>
      <vt:lpstr>Course Objectives</vt:lpstr>
      <vt:lpstr>Course Learning Outcomes </vt:lpstr>
      <vt:lpstr>Logistics</vt:lpstr>
      <vt:lpstr>Logistics</vt:lpstr>
      <vt:lpstr>Logistics</vt:lpstr>
    </vt:vector>
  </TitlesOfParts>
  <Company>S.F.U.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Jiawei Han</dc:creator>
  <cp:lastModifiedBy>Reviewer A</cp:lastModifiedBy>
  <cp:revision>559</cp:revision>
  <cp:lastPrinted>1999-09-10T20:38:56Z</cp:lastPrinted>
  <dcterms:created xsi:type="dcterms:W3CDTF">1998-06-19T04:38:52Z</dcterms:created>
  <dcterms:modified xsi:type="dcterms:W3CDTF">2026-08-25T14:08:57Z</dcterms:modified>
</cp:coreProperties>
</file>